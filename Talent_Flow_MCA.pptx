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C3F3448-C07B-FCE9-9D2F-9F47A7626AE8}">
          <p14:sldIdLst>
            <p14:sldId id="256"/>
            <p14:sldId id="257"/>
            <p14:sldId id="258"/>
            <p14:sldId id="259"/>
            <p14:sldId id="260"/>
          </p14:sldIdLst>
        </p14:section>
        <p14:section name="Background" id="{ECA9EF79-C3CA-AE9C-5569-35D6797BAD98}">
          <p14:sldIdLst>
            <p14:sldId id="261"/>
            <p14:sldId id="262"/>
            <p14:sldId id="263"/>
            <p14:sldId id="264"/>
          </p14:sldIdLst>
        </p14:section>
        <p14:section name="Design" id="{500AE915-C979-0DA4-9C04-BA0D9FA2046B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Build &amp; Evaluate" id="{AD415ED2-579F-49B8-17AA-BF7F8AFF9DCE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Wrap-up" id="{B3B1C1DB-288D-CB3A-DDCB-82FA5AA1AAB2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5106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project title, your guide and the department. Talent Flow is a single platform for remote technical interviews.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interviews today use several disconnected tools. Talent Flow brings them into one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abstract row by row: problem, solution, technologies, AI and real-time,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in one sentence, then briefly support it with the three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main objective and four specific objectives. Then the expected outcome and the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factual: Zoom and Meet are excellent for video, HackerRank and LeetCode for coding. The gap is that no single tool covers the whole interview.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Talent Flow solves the problem by consolidating the whole interview into one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roles are Interviewer and Candidate. Future applications are possibilities, not current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studies on interview platforms, collaborative editors, AI assessment and proctoring. Metrics are only named in the sources, so values are Not Reported.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 is MongoDB. Frontend is React with Vite; backend is Node.js with Express.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reasonable development requirements, not benchmarked specifications.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Flow: Interviewer or Candidate -&gt; React frontend -&gt; Node.js and Express backend -&gt; MongoDB. Socket.IO, WebRTC, Groq API, code execution and PDF generation are the supporting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design diagrams. Level 1 DFDs cover Interviewer, Interviewer Evaluation, Candidate, AI Code Evaluation and Proctoring. Open the full diagrams from the project report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modules, one line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interview flow runs from authentication to PDF report. Proctoring monitors the session continuously while coding takes place. The strip below shows the development approach from the project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technical but simple. Mention MongoDB as the database and Socket.IO plus WebRTC for real-time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these are qualitative observations. No accuracy or response-time figures were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are taken from the earlier presentation. The last tile is reserved for the PDF report or proctoring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comparison factual. Existing tools are strong at their own job; Talent Flow combines the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Actual Result and Status after running each test case before the viva.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the demo video here, or add the link or QR code in the placeholder.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advantages of an integrated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these honestly as boundaries of the current version, not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in a few sentences: what Talent Flow provides, how it addresses the problem, how activities are unified, and the contribution of AI and real-time technologies.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these are possible future improvements and are not part of the present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follow IEEE style as far as the available source details allow.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Talent Flow  |  MCA Mini Project Final Presentation  |  Aromal Anil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Talent Flow  |  MCA Mini Project Final Presentation  |  Aromal Anil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E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36.png"/><Relationship Id="rId3" Type="http://schemas.openxmlformats.org/officeDocument/2006/relationships/image" Target="../media/image29.png"/><Relationship Id="rId7" Type="http://schemas.openxmlformats.org/officeDocument/2006/relationships/image" Target="../media/image28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11" Type="http://schemas.openxmlformats.org/officeDocument/2006/relationships/image" Target="../media/image34.png"/><Relationship Id="rId5" Type="http://schemas.openxmlformats.org/officeDocument/2006/relationships/image" Target="../media/image30.png"/><Relationship Id="rId10" Type="http://schemas.openxmlformats.org/officeDocument/2006/relationships/image" Target="../media/image33.png"/><Relationship Id="rId4" Type="http://schemas.openxmlformats.org/officeDocument/2006/relationships/image" Target="../media/image3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14.png"/><Relationship Id="rId3" Type="http://schemas.openxmlformats.org/officeDocument/2006/relationships/image" Target="../media/image22.png"/><Relationship Id="rId7" Type="http://schemas.openxmlformats.org/officeDocument/2006/relationships/image" Target="../media/image29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11" Type="http://schemas.openxmlformats.org/officeDocument/2006/relationships/image" Target="../media/image28.png"/><Relationship Id="rId5" Type="http://schemas.openxmlformats.org/officeDocument/2006/relationships/image" Target="../media/image26.png"/><Relationship Id="rId15" Type="http://schemas.openxmlformats.org/officeDocument/2006/relationships/image" Target="../media/image20.png"/><Relationship Id="rId10" Type="http://schemas.openxmlformats.org/officeDocument/2006/relationships/image" Target="../media/image39.png"/><Relationship Id="rId4" Type="http://schemas.openxmlformats.org/officeDocument/2006/relationships/image" Target="../media/image23.png"/><Relationship Id="rId9" Type="http://schemas.openxmlformats.org/officeDocument/2006/relationships/image" Target="../media/image38.png"/><Relationship Id="rId1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47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8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11" Type="http://schemas.openxmlformats.org/officeDocument/2006/relationships/image" Target="../media/image11.png"/><Relationship Id="rId5" Type="http://schemas.openxmlformats.org/officeDocument/2006/relationships/image" Target="../media/image46.png"/><Relationship Id="rId10" Type="http://schemas.openxmlformats.org/officeDocument/2006/relationships/image" Target="../media/image12.png"/><Relationship Id="rId4" Type="http://schemas.openxmlformats.org/officeDocument/2006/relationships/image" Target="../media/image47.png"/><Relationship Id="rId9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image" Target="../media/image20.png"/><Relationship Id="rId4" Type="http://schemas.openxmlformats.org/officeDocument/2006/relationships/image" Target="../media/image47.png"/><Relationship Id="rId9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6.png"/><Relationship Id="rId5" Type="http://schemas.openxmlformats.org/officeDocument/2006/relationships/image" Target="../media/image69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7.png"/><Relationship Id="rId5" Type="http://schemas.openxmlformats.org/officeDocument/2006/relationships/image" Target="../media/image12.png"/><Relationship Id="rId10" Type="http://schemas.openxmlformats.org/officeDocument/2006/relationships/image" Target="../media/image80.png"/><Relationship Id="rId4" Type="http://schemas.openxmlformats.org/officeDocument/2006/relationships/image" Target="../media/image15.png"/><Relationship Id="rId9" Type="http://schemas.openxmlformats.org/officeDocument/2006/relationships/image" Target="../media/image7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/>
        </p:nvSpPr>
        <p:spPr>
          <a:xfrm>
            <a:off x="731520" y="7772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bg2"/>
                </a:solidFill>
              </a:rPr>
              <a:t>MCA MINI PROJECT  ·  FINAL PRESENTATION</a:t>
            </a:r>
            <a:endParaRPr lang="en-US" sz="1300" dirty="0"/>
          </a:p>
        </p:txBody>
      </p:sp>
      <p:sp>
        <p:nvSpPr>
          <p:cNvPr id="3" name="Text 2"/>
          <p:cNvSpPr txBox="1"/>
          <p:nvPr/>
        </p:nvSpPr>
        <p:spPr>
          <a:xfrm>
            <a:off x="731520" y="123444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bg1"/>
                </a:solidFill>
              </a:rPr>
              <a:t>Talent Flow</a:t>
            </a:r>
            <a:endParaRPr lang="en-US" sz="6600" dirty="0"/>
          </a:p>
        </p:txBody>
      </p:sp>
      <p:sp>
        <p:nvSpPr>
          <p:cNvPr id="4" name="Text 3"/>
          <p:cNvSpPr txBox="1"/>
          <p:nvPr/>
        </p:nvSpPr>
        <p:spPr>
          <a:xfrm>
            <a:off x="731520" y="242316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chemeClr val="bg2"/>
                </a:solidFill>
              </a:rPr>
              <a:t>Real-Time Remote Technical Interview &amp; Assessment Platform</a:t>
            </a:r>
            <a:endParaRPr lang="en-US" sz="2600" dirty="0"/>
          </a:p>
        </p:txBody>
      </p:sp>
      <p:sp>
        <p:nvSpPr>
          <p:cNvPr id="5" name="Text 4"/>
          <p:cNvSpPr txBox="1"/>
          <p:nvPr/>
        </p:nvSpPr>
        <p:spPr>
          <a:xfrm>
            <a:off x="731519" y="4069080"/>
            <a:ext cx="342900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bg2">
                    <a:alpha val="75000"/>
                  </a:schemeClr>
                </a:solidFill>
              </a:rPr>
              <a:t>SUBMITTED BY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 err="1">
                <a:solidFill>
                  <a:schemeClr val="bg1"/>
                </a:solidFill>
              </a:rPr>
              <a:t>Aromal</a:t>
            </a:r>
            <a:r>
              <a:rPr lang="en-US" sz="2000" b="1" dirty="0">
                <a:solidFill>
                  <a:schemeClr val="bg1"/>
                </a:solidFill>
              </a:rPr>
              <a:t> Anil</a:t>
            </a:r>
          </a:p>
          <a:p>
            <a:pPr>
              <a:spcAft>
                <a:spcPts val="400"/>
              </a:spcAft>
            </a:pPr>
            <a:r>
              <a:rPr lang="en-IN" sz="1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MLM25MCA-2024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Department of Computer Applications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chemeClr val="bg2"/>
                </a:solidFill>
              </a:rPr>
              <a:t>Academic Year 2025–27</a:t>
            </a:r>
            <a:endParaRPr lang="en-IN" sz="14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</p:txBody>
      </p:sp>
      <p:sp>
        <p:nvSpPr>
          <p:cNvPr id="6" name="Text 5"/>
          <p:cNvSpPr txBox="1"/>
          <p:nvPr/>
        </p:nvSpPr>
        <p:spPr>
          <a:xfrm>
            <a:off x="4206240" y="40690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bg2">
                    <a:alpha val="75000"/>
                  </a:schemeClr>
                </a:solidFill>
              </a:rPr>
              <a:t>GUIDE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Ms. Anjaly Sajeev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Assistant Professor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Department of Computer Applications</a:t>
            </a:r>
            <a:endParaRPr lang="en-US" sz="1400" dirty="0"/>
          </a:p>
        </p:txBody>
      </p:sp>
      <p:sp>
        <p:nvSpPr>
          <p:cNvPr id="7" name="Text 6"/>
          <p:cNvSpPr txBox="1"/>
          <p:nvPr/>
        </p:nvSpPr>
        <p:spPr>
          <a:xfrm>
            <a:off x="777240" y="6126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IN" sz="1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MANGALAM COLLEGE OF ENGINEERING, ETTUMANOOR</a:t>
            </a:r>
            <a:endParaRPr lang="en-IN" sz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lang="en-IN" sz="12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(Affiliated to APJ Abdul Kalam Technological University)</a:t>
            </a:r>
            <a:endParaRPr lang="en-IN" sz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Shape 7"/>
          <p:cNvSpPr/>
          <p:nvPr/>
        </p:nvSpPr>
        <p:spPr>
          <a:xfrm>
            <a:off x="7589520" y="1097280"/>
            <a:ext cx="4069080" cy="4480560"/>
          </a:xfrm>
          <a:prstGeom prst="roundRect">
            <a:avLst>
              <a:gd name="adj" fmla="val 4494"/>
            </a:avLst>
          </a:prstGeom>
          <a:solidFill>
            <a:schemeClr val="bg1">
              <a:alpha val="8000"/>
            </a:scheme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8"/>
          <p:cNvSpPr/>
          <p:nvPr/>
        </p:nvSpPr>
        <p:spPr>
          <a:xfrm>
            <a:off x="7818120" y="1298448"/>
            <a:ext cx="109728" cy="109728"/>
          </a:xfrm>
          <a:prstGeom prst="ellipse">
            <a:avLst/>
          </a:prstGeom>
          <a:solidFill>
            <a:schemeClr val="bg1">
              <a:alpha val="40000"/>
            </a:schemeClr>
          </a:solidFill>
          <a:ln/>
        </p:spPr>
      </p:sp>
      <p:sp>
        <p:nvSpPr>
          <p:cNvPr id="10" name="Shape 9"/>
          <p:cNvSpPr/>
          <p:nvPr/>
        </p:nvSpPr>
        <p:spPr>
          <a:xfrm>
            <a:off x="8019288" y="1298448"/>
            <a:ext cx="109728" cy="109728"/>
          </a:xfrm>
          <a:prstGeom prst="ellipse">
            <a:avLst/>
          </a:prstGeom>
          <a:solidFill>
            <a:schemeClr val="bg1">
              <a:alpha val="40000"/>
            </a:schemeClr>
          </a:solidFill>
          <a:ln/>
        </p:spPr>
      </p:sp>
      <p:sp>
        <p:nvSpPr>
          <p:cNvPr id="11" name="Shape 10"/>
          <p:cNvSpPr/>
          <p:nvPr/>
        </p:nvSpPr>
        <p:spPr>
          <a:xfrm>
            <a:off x="8220456" y="1298448"/>
            <a:ext cx="109728" cy="109728"/>
          </a:xfrm>
          <a:prstGeom prst="ellipse">
            <a:avLst/>
          </a:prstGeom>
          <a:solidFill>
            <a:schemeClr val="bg1">
              <a:alpha val="40000"/>
            </a:schemeClr>
          </a:solidFill>
          <a:ln/>
        </p:spPr>
      </p:sp>
      <p:sp>
        <p:nvSpPr>
          <p:cNvPr id="12" name="Shape 11"/>
          <p:cNvSpPr/>
          <p:nvPr/>
        </p:nvSpPr>
        <p:spPr>
          <a:xfrm>
            <a:off x="7818120" y="1691640"/>
            <a:ext cx="1600200" cy="1417320"/>
          </a:xfrm>
          <a:prstGeom prst="roundRect">
            <a:avLst>
              <a:gd name="adj" fmla="val 7742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3" name="Shape 12"/>
          <p:cNvSpPr/>
          <p:nvPr/>
        </p:nvSpPr>
        <p:spPr>
          <a:xfrm>
            <a:off x="8275320" y="1920240"/>
            <a:ext cx="685800" cy="685800"/>
          </a:xfrm>
          <a:prstGeom prst="ellipse">
            <a:avLst/>
          </a:prstGeom>
          <a:solidFill>
            <a:schemeClr val="bg1">
              <a:alpha val="85000"/>
            </a:schemeClr>
          </a:solidFill>
          <a:ln/>
        </p:spPr>
      </p:sp>
      <p:pic>
        <p:nvPicPr>
          <p:cNvPr id="14" name="Icon 13" descr="pers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103120"/>
            <a:ext cx="320040" cy="320040"/>
          </a:xfrm>
          <a:prstGeom prst="rect">
            <a:avLst/>
          </a:prstGeom>
        </p:spPr>
      </p:pic>
      <p:sp>
        <p:nvSpPr>
          <p:cNvPr id="15" name="Text 14"/>
          <p:cNvSpPr txBox="1"/>
          <p:nvPr/>
        </p:nvSpPr>
        <p:spPr>
          <a:xfrm>
            <a:off x="7818120" y="2743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Interviewer</a:t>
            </a:r>
            <a:endParaRPr lang="en-US" sz="1100" dirty="0"/>
          </a:p>
        </p:txBody>
      </p:sp>
      <p:sp>
        <p:nvSpPr>
          <p:cNvPr id="16" name="Shape 15"/>
          <p:cNvSpPr/>
          <p:nvPr/>
        </p:nvSpPr>
        <p:spPr>
          <a:xfrm>
            <a:off x="7818120" y="3291840"/>
            <a:ext cx="1600200" cy="1417320"/>
          </a:xfrm>
          <a:prstGeom prst="roundRect">
            <a:avLst>
              <a:gd name="adj" fmla="val 7742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7" name="Shape 16"/>
          <p:cNvSpPr/>
          <p:nvPr/>
        </p:nvSpPr>
        <p:spPr>
          <a:xfrm>
            <a:off x="8275320" y="3520440"/>
            <a:ext cx="685800" cy="685800"/>
          </a:xfrm>
          <a:prstGeom prst="ellipse">
            <a:avLst/>
          </a:prstGeom>
          <a:solidFill>
            <a:schemeClr val="bg1">
              <a:alpha val="85000"/>
            </a:schemeClr>
          </a:solidFill>
          <a:ln/>
        </p:spPr>
      </p:sp>
      <p:pic>
        <p:nvPicPr>
          <p:cNvPr id="18" name="Icon 17" descr="pers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703320"/>
            <a:ext cx="320040" cy="320040"/>
          </a:xfrm>
          <a:prstGeom prst="rect">
            <a:avLst/>
          </a:prstGeom>
        </p:spPr>
      </p:pic>
      <p:sp>
        <p:nvSpPr>
          <p:cNvPr id="19" name="Text 18"/>
          <p:cNvSpPr txBox="1"/>
          <p:nvPr/>
        </p:nvSpPr>
        <p:spPr>
          <a:xfrm>
            <a:off x="7818120" y="4343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Candidate</a:t>
            </a:r>
            <a:endParaRPr lang="en-US" sz="1100" dirty="0"/>
          </a:p>
        </p:txBody>
      </p:sp>
      <p:sp>
        <p:nvSpPr>
          <p:cNvPr id="20" name="Shape 19"/>
          <p:cNvSpPr/>
          <p:nvPr/>
        </p:nvSpPr>
        <p:spPr>
          <a:xfrm>
            <a:off x="9601200" y="1691640"/>
            <a:ext cx="1828800" cy="3017520"/>
          </a:xfrm>
          <a:prstGeom prst="roundRect">
            <a:avLst>
              <a:gd name="adj" fmla="val 6000"/>
            </a:avLst>
          </a:prstGeom>
          <a:solidFill>
            <a:schemeClr val="tx1">
              <a:alpha val="75000"/>
            </a:schemeClr>
          </a:solidFill>
          <a:ln/>
        </p:spPr>
      </p:sp>
      <p:sp>
        <p:nvSpPr>
          <p:cNvPr id="21" name="Shape 20"/>
          <p:cNvSpPr/>
          <p:nvPr/>
        </p:nvSpPr>
        <p:spPr>
          <a:xfrm>
            <a:off x="9784080" y="1920240"/>
            <a:ext cx="822960" cy="109728"/>
          </a:xfrm>
          <a:prstGeom prst="roundRect">
            <a:avLst>
              <a:gd name="adj" fmla="val 41667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22" name="Shape 21"/>
          <p:cNvSpPr/>
          <p:nvPr/>
        </p:nvSpPr>
        <p:spPr>
          <a:xfrm>
            <a:off x="10012680" y="2286000"/>
            <a:ext cx="1371600" cy="109728"/>
          </a:xfrm>
          <a:prstGeom prst="roundRect">
            <a:avLst>
              <a:gd name="adj" fmla="val 41667"/>
            </a:avLst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23" name="Shape 22"/>
          <p:cNvSpPr/>
          <p:nvPr/>
        </p:nvSpPr>
        <p:spPr>
          <a:xfrm>
            <a:off x="9784080" y="2651760"/>
            <a:ext cx="1097280" cy="109728"/>
          </a:xfrm>
          <a:prstGeom prst="roundRect">
            <a:avLst>
              <a:gd name="adj" fmla="val 41667"/>
            </a:avLst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24" name="Shape 23"/>
          <p:cNvSpPr/>
          <p:nvPr/>
        </p:nvSpPr>
        <p:spPr>
          <a:xfrm>
            <a:off x="9784080" y="3017520"/>
            <a:ext cx="1508760" cy="109728"/>
          </a:xfrm>
          <a:prstGeom prst="roundRect">
            <a:avLst>
              <a:gd name="adj" fmla="val 41667"/>
            </a:avLst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25" name="Shape 24"/>
          <p:cNvSpPr/>
          <p:nvPr/>
        </p:nvSpPr>
        <p:spPr>
          <a:xfrm>
            <a:off x="10012680" y="3383280"/>
            <a:ext cx="731520" cy="109728"/>
          </a:xfrm>
          <a:prstGeom prst="roundRect">
            <a:avLst>
              <a:gd name="adj" fmla="val 41667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26" name="Shape 25"/>
          <p:cNvSpPr/>
          <p:nvPr/>
        </p:nvSpPr>
        <p:spPr>
          <a:xfrm>
            <a:off x="9784080" y="3749040"/>
            <a:ext cx="1280160" cy="109728"/>
          </a:xfrm>
          <a:prstGeom prst="roundRect">
            <a:avLst>
              <a:gd name="adj" fmla="val 41667"/>
            </a:avLst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27" name="Shape 26"/>
          <p:cNvSpPr/>
          <p:nvPr/>
        </p:nvSpPr>
        <p:spPr>
          <a:xfrm>
            <a:off x="9784080" y="4114800"/>
            <a:ext cx="914400" cy="109728"/>
          </a:xfrm>
          <a:prstGeom prst="roundRect">
            <a:avLst>
              <a:gd name="adj" fmla="val 41667"/>
            </a:avLst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28" name="Shape 27"/>
          <p:cNvSpPr/>
          <p:nvPr/>
        </p:nvSpPr>
        <p:spPr>
          <a:xfrm>
            <a:off x="7818120" y="4846320"/>
            <a:ext cx="3611880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/>
        </p:spPr>
      </p:sp>
      <p:sp>
        <p:nvSpPr>
          <p:cNvPr id="29" name="Text 28"/>
          <p:cNvSpPr txBox="1"/>
          <p:nvPr/>
        </p:nvSpPr>
        <p:spPr>
          <a:xfrm>
            <a:off x="7818120" y="48463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AI Review  ·  Proctoring  ·  PDF Scorecard</a:t>
            </a:r>
            <a:endParaRPr lang="en-US" sz="1200" dirty="0"/>
          </a:p>
        </p:txBody>
      </p:sp>
      <p:sp>
        <p:nvSpPr>
          <p:cNvPr id="30" name="Text 29"/>
          <p:cNvSpPr txBox="1"/>
          <p:nvPr/>
        </p:nvSpPr>
        <p:spPr>
          <a:xfrm>
            <a:off x="7589520" y="58064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>
                    <a:alpha val="80000"/>
                  </a:schemeClr>
                </a:solidFill>
              </a:rPr>
              <a:t>Real-Time Video  ·  Collaborative Coding  ·  AI-Based Evaluation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Shape 30"/>
          <p:cNvSpPr/>
          <p:nvPr/>
        </p:nvSpPr>
        <p:spPr>
          <a:xfrm>
            <a:off x="548640" y="1371600"/>
            <a:ext cx="61264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4" name="Shape 31"/>
          <p:cNvSpPr/>
          <p:nvPr/>
        </p:nvSpPr>
        <p:spPr>
          <a:xfrm>
            <a:off x="731520" y="1554480"/>
            <a:ext cx="685800" cy="6858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5" name="Icon FaGlobe 32" descr="Glob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1725930"/>
            <a:ext cx="342900" cy="342900"/>
          </a:xfrm>
          <a:prstGeom prst="rect">
            <a:avLst/>
          </a:prstGeom>
        </p:spPr>
      </p:pic>
      <p:sp>
        <p:nvSpPr>
          <p:cNvPr id="6" name="Text 33"/>
          <p:cNvSpPr txBox="1"/>
          <p:nvPr/>
        </p:nvSpPr>
        <p:spPr>
          <a:xfrm>
            <a:off x="1600200" y="14630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Background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Technical hiring has moved online, but interviews still run across several separate tools.</a:t>
            </a:r>
            <a:endParaRPr lang="en-US" sz="1600" dirty="0"/>
          </a:p>
        </p:txBody>
      </p:sp>
      <p:sp>
        <p:nvSpPr>
          <p:cNvPr id="7" name="Shape 34"/>
          <p:cNvSpPr/>
          <p:nvPr/>
        </p:nvSpPr>
        <p:spPr>
          <a:xfrm>
            <a:off x="548640" y="2560320"/>
            <a:ext cx="61264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8" name="Shape 35"/>
          <p:cNvSpPr/>
          <p:nvPr/>
        </p:nvSpPr>
        <p:spPr>
          <a:xfrm>
            <a:off x="731520" y="2743200"/>
            <a:ext cx="685800" cy="6858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9" name="Icon FaPuzzlePiece 36" descr="PuzzlePiec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2914650"/>
            <a:ext cx="342900" cy="342900"/>
          </a:xfrm>
          <a:prstGeom prst="rect">
            <a:avLst/>
          </a:prstGeom>
        </p:spPr>
      </p:pic>
      <p:sp>
        <p:nvSpPr>
          <p:cNvPr id="10" name="Text 37"/>
          <p:cNvSpPr txBox="1"/>
          <p:nvPr/>
        </p:nvSpPr>
        <p:spPr>
          <a:xfrm>
            <a:off x="1600200" y="26517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The problem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Switching between video, coding and scoring tools disrupts both the interview and the evaluation.</a:t>
            </a:r>
            <a:endParaRPr lang="en-US" sz="1600" dirty="0"/>
          </a:p>
        </p:txBody>
      </p:sp>
      <p:sp>
        <p:nvSpPr>
          <p:cNvPr id="11" name="Shape 38"/>
          <p:cNvSpPr/>
          <p:nvPr/>
        </p:nvSpPr>
        <p:spPr>
          <a:xfrm>
            <a:off x="548640" y="3749040"/>
            <a:ext cx="61264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2" name="Shape 39"/>
          <p:cNvSpPr/>
          <p:nvPr/>
        </p:nvSpPr>
        <p:spPr>
          <a:xfrm>
            <a:off x="731520" y="3931920"/>
            <a:ext cx="685800" cy="6858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3" name="Icon FaLayerGroup 40" descr="LayerGroup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" y="4103370"/>
            <a:ext cx="342900" cy="342900"/>
          </a:xfrm>
          <a:prstGeom prst="rect">
            <a:avLst/>
          </a:prstGeom>
        </p:spPr>
      </p:pic>
      <p:sp>
        <p:nvSpPr>
          <p:cNvPr id="14" name="Text 41"/>
          <p:cNvSpPr txBox="1"/>
          <p:nvPr/>
        </p:nvSpPr>
        <p:spPr>
          <a:xfrm>
            <a:off x="1600200" y="38404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The need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An integrated platform that keeps video, code and assessment together in one place.</a:t>
            </a:r>
            <a:endParaRPr lang="en-US" sz="1600" dirty="0"/>
          </a:p>
        </p:txBody>
      </p:sp>
      <p:sp>
        <p:nvSpPr>
          <p:cNvPr id="15" name="Shape 42"/>
          <p:cNvSpPr/>
          <p:nvPr/>
        </p:nvSpPr>
        <p:spPr>
          <a:xfrm>
            <a:off x="548640" y="4937760"/>
            <a:ext cx="61264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6" name="Shape 43"/>
          <p:cNvSpPr/>
          <p:nvPr/>
        </p:nvSpPr>
        <p:spPr>
          <a:xfrm>
            <a:off x="731520" y="5120640"/>
            <a:ext cx="685800" cy="6858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7" name="Icon FaBullseye 44" descr="Bullsey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0" y="5292090"/>
            <a:ext cx="342900" cy="342900"/>
          </a:xfrm>
          <a:prstGeom prst="rect">
            <a:avLst/>
          </a:prstGeom>
        </p:spPr>
      </p:pic>
      <p:sp>
        <p:nvSpPr>
          <p:cNvPr id="18" name="Text 45"/>
          <p:cNvSpPr txBox="1"/>
          <p:nvPr/>
        </p:nvSpPr>
        <p:spPr>
          <a:xfrm>
            <a:off x="1600200" y="50292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Purpose of Talent Flow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Unify live video, collaborative coding, AI review and PDF reports for Interviewers and Candidates.</a:t>
            </a:r>
            <a:endParaRPr lang="en-US" sz="1600" dirty="0"/>
          </a:p>
        </p:txBody>
      </p:sp>
      <p:sp>
        <p:nvSpPr>
          <p:cNvPr id="19" name="Shape 46"/>
          <p:cNvSpPr/>
          <p:nvPr/>
        </p:nvSpPr>
        <p:spPr>
          <a:xfrm>
            <a:off x="6949440" y="1371600"/>
            <a:ext cx="4690872" cy="4617720"/>
          </a:xfrm>
          <a:prstGeom prst="roundRect">
            <a:avLst>
              <a:gd name="adj" fmla="val 2376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0" name="Text 47"/>
          <p:cNvSpPr txBox="1"/>
          <p:nvPr/>
        </p:nvSpPr>
        <p:spPr>
          <a:xfrm>
            <a:off x="722376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</a:rPr>
              <a:t>TODAY: SEPARATE TOOLS</a:t>
            </a:r>
            <a:endParaRPr lang="en-US" sz="1100" dirty="0"/>
          </a:p>
        </p:txBody>
      </p:sp>
      <p:sp>
        <p:nvSpPr>
          <p:cNvPr id="21" name="Shape 48"/>
          <p:cNvSpPr/>
          <p:nvPr/>
        </p:nvSpPr>
        <p:spPr>
          <a:xfrm>
            <a:off x="7223760" y="1965960"/>
            <a:ext cx="1965960" cy="594360"/>
          </a:xfrm>
          <a:prstGeom prst="roundRect">
            <a:avLst>
              <a:gd name="adj" fmla="val 15385"/>
            </a:avLst>
          </a:prstGeom>
          <a:solidFill>
            <a:schemeClr val="bg1">
              <a:alpha val="10000"/>
            </a:scheme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49"/>
          <p:cNvSpPr txBox="1"/>
          <p:nvPr/>
        </p:nvSpPr>
        <p:spPr>
          <a:xfrm>
            <a:off x="7223760" y="19659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Video call tool</a:t>
            </a:r>
            <a:endParaRPr lang="en-US" sz="1300" dirty="0"/>
          </a:p>
        </p:txBody>
      </p:sp>
      <p:sp>
        <p:nvSpPr>
          <p:cNvPr id="23" name="Shape 50"/>
          <p:cNvSpPr/>
          <p:nvPr/>
        </p:nvSpPr>
        <p:spPr>
          <a:xfrm>
            <a:off x="9326880" y="1965960"/>
            <a:ext cx="1965960" cy="594360"/>
          </a:xfrm>
          <a:prstGeom prst="roundRect">
            <a:avLst>
              <a:gd name="adj" fmla="val 15385"/>
            </a:avLst>
          </a:prstGeom>
          <a:solidFill>
            <a:schemeClr val="bg1">
              <a:alpha val="10000"/>
            </a:scheme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51"/>
          <p:cNvSpPr txBox="1"/>
          <p:nvPr/>
        </p:nvSpPr>
        <p:spPr>
          <a:xfrm>
            <a:off x="9326880" y="19659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Coding platform</a:t>
            </a:r>
            <a:endParaRPr lang="en-US" sz="1300" dirty="0"/>
          </a:p>
        </p:txBody>
      </p:sp>
      <p:sp>
        <p:nvSpPr>
          <p:cNvPr id="25" name="Shape 52"/>
          <p:cNvSpPr/>
          <p:nvPr/>
        </p:nvSpPr>
        <p:spPr>
          <a:xfrm>
            <a:off x="7223760" y="2697480"/>
            <a:ext cx="1965960" cy="594360"/>
          </a:xfrm>
          <a:prstGeom prst="roundRect">
            <a:avLst>
              <a:gd name="adj" fmla="val 15385"/>
            </a:avLst>
          </a:prstGeom>
          <a:solidFill>
            <a:schemeClr val="bg1">
              <a:alpha val="10000"/>
            </a:scheme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53"/>
          <p:cNvSpPr txBox="1"/>
          <p:nvPr/>
        </p:nvSpPr>
        <p:spPr>
          <a:xfrm>
            <a:off x="7223760" y="26974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Manual evaluation</a:t>
            </a:r>
            <a:endParaRPr lang="en-US" sz="1300" dirty="0"/>
          </a:p>
        </p:txBody>
      </p:sp>
      <p:sp>
        <p:nvSpPr>
          <p:cNvPr id="27" name="Shape 54"/>
          <p:cNvSpPr/>
          <p:nvPr/>
        </p:nvSpPr>
        <p:spPr>
          <a:xfrm>
            <a:off x="9326880" y="2697480"/>
            <a:ext cx="1965960" cy="594360"/>
          </a:xfrm>
          <a:prstGeom prst="roundRect">
            <a:avLst>
              <a:gd name="adj" fmla="val 15385"/>
            </a:avLst>
          </a:prstGeom>
          <a:solidFill>
            <a:schemeClr val="bg1">
              <a:alpha val="10000"/>
            </a:scheme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Text 55"/>
          <p:cNvSpPr txBox="1"/>
          <p:nvPr/>
        </p:nvSpPr>
        <p:spPr>
          <a:xfrm>
            <a:off x="9326880" y="26974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Separate records</a:t>
            </a:r>
            <a:endParaRPr lang="en-US" sz="1300" dirty="0"/>
          </a:p>
        </p:txBody>
      </p:sp>
      <p:pic>
        <p:nvPicPr>
          <p:cNvPr id="29" name="Icon 56" descr="arro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3520440"/>
            <a:ext cx="411480" cy="411480"/>
          </a:xfrm>
          <a:prstGeom prst="rect">
            <a:avLst/>
          </a:prstGeom>
        </p:spPr>
      </p:pic>
      <p:sp>
        <p:nvSpPr>
          <p:cNvPr id="30" name="Text 57"/>
          <p:cNvSpPr txBox="1"/>
          <p:nvPr/>
        </p:nvSpPr>
        <p:spPr>
          <a:xfrm>
            <a:off x="722376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</a:rPr>
              <a:t>WITH TALENT FLOW</a:t>
            </a:r>
            <a:endParaRPr lang="en-US" sz="1100" dirty="0"/>
          </a:p>
        </p:txBody>
      </p:sp>
      <p:sp>
        <p:nvSpPr>
          <p:cNvPr id="31" name="Shape 58"/>
          <p:cNvSpPr/>
          <p:nvPr/>
        </p:nvSpPr>
        <p:spPr>
          <a:xfrm>
            <a:off x="7223760" y="4480560"/>
            <a:ext cx="4160520" cy="1188720"/>
          </a:xfrm>
          <a:prstGeom prst="roundRect">
            <a:avLst>
              <a:gd name="adj" fmla="val 10769"/>
            </a:avLst>
          </a:prstGeom>
          <a:solidFill>
            <a:schemeClr val="accent1"/>
          </a:solidFill>
          <a:ln/>
        </p:spPr>
      </p:sp>
      <p:sp>
        <p:nvSpPr>
          <p:cNvPr id="32" name="Text 59"/>
          <p:cNvSpPr txBox="1"/>
          <p:nvPr/>
        </p:nvSpPr>
        <p:spPr>
          <a:xfrm>
            <a:off x="7406640" y="44805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One unified interview platform</a:t>
            </a:r>
            <a:endParaRPr lang="en-US" sz="16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Video · Code · AI Review · Proctoring · Reports</a:t>
            </a:r>
            <a:endParaRPr lang="en-US" sz="16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Abstract</a:t>
            </a:r>
            <a:endParaRPr lang="en-US" sz="3200" dirty="0"/>
          </a:p>
        </p:txBody>
      </p:sp>
      <p:sp>
        <p:nvSpPr>
          <p:cNvPr id="3" name="Shape 60"/>
          <p:cNvSpPr/>
          <p:nvPr/>
        </p:nvSpPr>
        <p:spPr>
          <a:xfrm>
            <a:off x="548640" y="1371600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4" name="Shape 61"/>
          <p:cNvSpPr/>
          <p:nvPr/>
        </p:nvSpPr>
        <p:spPr>
          <a:xfrm>
            <a:off x="731520" y="1499616"/>
            <a:ext cx="585216" cy="58521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5" name="Icon FaExclamationTriangle 62" descr="ExclamationTriangl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645920"/>
            <a:ext cx="292608" cy="292608"/>
          </a:xfrm>
          <a:prstGeom prst="rect">
            <a:avLst/>
          </a:prstGeom>
        </p:spPr>
      </p:pic>
      <p:sp>
        <p:nvSpPr>
          <p:cNvPr id="6" name="Text 63"/>
          <p:cNvSpPr txBox="1"/>
          <p:nvPr/>
        </p:nvSpPr>
        <p:spPr>
          <a:xfrm>
            <a:off x="1554480" y="1371600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Problem</a:t>
            </a:r>
            <a:endParaRPr lang="en-US" sz="1700" dirty="0"/>
          </a:p>
        </p:txBody>
      </p:sp>
      <p:sp>
        <p:nvSpPr>
          <p:cNvPr id="7" name="Text 64"/>
          <p:cNvSpPr txBox="1"/>
          <p:nvPr/>
        </p:nvSpPr>
        <p:spPr>
          <a:xfrm>
            <a:off x="3566160" y="1371600"/>
            <a:ext cx="7891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Interviews rely on disconnected tools and manual scoring, making them slow and hard to monitor.</a:t>
            </a:r>
            <a:endParaRPr lang="en-US" sz="1500" dirty="0"/>
          </a:p>
        </p:txBody>
      </p:sp>
      <p:sp>
        <p:nvSpPr>
          <p:cNvPr id="8" name="Shape 65"/>
          <p:cNvSpPr/>
          <p:nvPr/>
        </p:nvSpPr>
        <p:spPr>
          <a:xfrm>
            <a:off x="548640" y="2322576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9" name="Shape 66"/>
          <p:cNvSpPr/>
          <p:nvPr/>
        </p:nvSpPr>
        <p:spPr>
          <a:xfrm>
            <a:off x="731520" y="2450592"/>
            <a:ext cx="585216" cy="58521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0" name="Icon FaLightbulb 67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2596896"/>
            <a:ext cx="292608" cy="292608"/>
          </a:xfrm>
          <a:prstGeom prst="rect">
            <a:avLst/>
          </a:prstGeom>
        </p:spPr>
      </p:pic>
      <p:sp>
        <p:nvSpPr>
          <p:cNvPr id="11" name="Text 68"/>
          <p:cNvSpPr txBox="1"/>
          <p:nvPr/>
        </p:nvSpPr>
        <p:spPr>
          <a:xfrm>
            <a:off x="1554480" y="2322576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Solution</a:t>
            </a:r>
            <a:endParaRPr lang="en-US" sz="1700" dirty="0"/>
          </a:p>
        </p:txBody>
      </p:sp>
      <p:sp>
        <p:nvSpPr>
          <p:cNvPr id="12" name="Text 69"/>
          <p:cNvSpPr txBox="1"/>
          <p:nvPr/>
        </p:nvSpPr>
        <p:spPr>
          <a:xfrm>
            <a:off x="3566160" y="2322576"/>
            <a:ext cx="7891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single web platform that joins live video, shared coding, evaluation and reporting.</a:t>
            </a:r>
            <a:endParaRPr lang="en-US" sz="1500" dirty="0"/>
          </a:p>
        </p:txBody>
      </p:sp>
      <p:sp>
        <p:nvSpPr>
          <p:cNvPr id="13" name="Shape 70"/>
          <p:cNvSpPr/>
          <p:nvPr/>
        </p:nvSpPr>
        <p:spPr>
          <a:xfrm>
            <a:off x="548640" y="3273552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4" name="Shape 71"/>
          <p:cNvSpPr/>
          <p:nvPr/>
        </p:nvSpPr>
        <p:spPr>
          <a:xfrm>
            <a:off x="731520" y="3401568"/>
            <a:ext cx="585216" cy="58521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5" name="Icon FaLayerGroup 72" descr="LayerGroup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3547872"/>
            <a:ext cx="292608" cy="292608"/>
          </a:xfrm>
          <a:prstGeom prst="rect">
            <a:avLst/>
          </a:prstGeom>
        </p:spPr>
      </p:pic>
      <p:sp>
        <p:nvSpPr>
          <p:cNvPr id="16" name="Text 73"/>
          <p:cNvSpPr txBox="1"/>
          <p:nvPr/>
        </p:nvSpPr>
        <p:spPr>
          <a:xfrm>
            <a:off x="1554480" y="327355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Technologies</a:t>
            </a:r>
            <a:endParaRPr lang="en-US" sz="1700" dirty="0"/>
          </a:p>
        </p:txBody>
      </p:sp>
      <p:sp>
        <p:nvSpPr>
          <p:cNvPr id="17" name="Text 74"/>
          <p:cNvSpPr txBox="1"/>
          <p:nvPr/>
        </p:nvSpPr>
        <p:spPr>
          <a:xfrm>
            <a:off x="3566160" y="3273552"/>
            <a:ext cx="7891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MERN stack with Socket.IO, WebRTC and Monaco Editor, using MongoDB as the database.</a:t>
            </a:r>
            <a:endParaRPr lang="en-US" sz="1500" dirty="0"/>
          </a:p>
        </p:txBody>
      </p:sp>
      <p:sp>
        <p:nvSpPr>
          <p:cNvPr id="18" name="Shape 75"/>
          <p:cNvSpPr/>
          <p:nvPr/>
        </p:nvSpPr>
        <p:spPr>
          <a:xfrm>
            <a:off x="548640" y="4224528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9" name="Shape 76"/>
          <p:cNvSpPr/>
          <p:nvPr/>
        </p:nvSpPr>
        <p:spPr>
          <a:xfrm>
            <a:off x="731520" y="4352544"/>
            <a:ext cx="585216" cy="58521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0" name="Icon FaBrain 77" descr="Brain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4498848"/>
            <a:ext cx="292608" cy="292608"/>
          </a:xfrm>
          <a:prstGeom prst="rect">
            <a:avLst/>
          </a:prstGeom>
        </p:spPr>
      </p:pic>
      <p:sp>
        <p:nvSpPr>
          <p:cNvPr id="21" name="Text 78"/>
          <p:cNvSpPr txBox="1"/>
          <p:nvPr/>
        </p:nvSpPr>
        <p:spPr>
          <a:xfrm>
            <a:off x="1554480" y="4224528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AI &amp; real-time</a:t>
            </a:r>
            <a:endParaRPr lang="en-US" sz="1700" dirty="0"/>
          </a:p>
        </p:txBody>
      </p:sp>
      <p:sp>
        <p:nvSpPr>
          <p:cNvPr id="22" name="Text 79"/>
          <p:cNvSpPr txBox="1"/>
          <p:nvPr/>
        </p:nvSpPr>
        <p:spPr>
          <a:xfrm>
            <a:off x="3566160" y="4224528"/>
            <a:ext cx="7891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Groq API reviews submitted code; Socket.IO syncs the editor; WebRTC carries video and audio.</a:t>
            </a:r>
            <a:endParaRPr lang="en-US" sz="1500" dirty="0"/>
          </a:p>
        </p:txBody>
      </p:sp>
      <p:sp>
        <p:nvSpPr>
          <p:cNvPr id="23" name="Shape 80"/>
          <p:cNvSpPr/>
          <p:nvPr/>
        </p:nvSpPr>
        <p:spPr>
          <a:xfrm>
            <a:off x="548640" y="5175504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4" name="Shape 81"/>
          <p:cNvSpPr/>
          <p:nvPr/>
        </p:nvSpPr>
        <p:spPr>
          <a:xfrm>
            <a:off x="731520" y="5303520"/>
            <a:ext cx="585216" cy="58521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5" name="Icon FaClipboardCheck 82" descr="ClipboardCheck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5449824"/>
            <a:ext cx="292608" cy="292608"/>
          </a:xfrm>
          <a:prstGeom prst="rect">
            <a:avLst/>
          </a:prstGeom>
        </p:spPr>
      </p:pic>
      <p:sp>
        <p:nvSpPr>
          <p:cNvPr id="26" name="Text 83"/>
          <p:cNvSpPr txBox="1"/>
          <p:nvPr/>
        </p:nvSpPr>
        <p:spPr>
          <a:xfrm>
            <a:off x="1554480" y="5175504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Outcome</a:t>
            </a:r>
            <a:endParaRPr lang="en-US" sz="1700" dirty="0"/>
          </a:p>
        </p:txBody>
      </p:sp>
      <p:sp>
        <p:nvSpPr>
          <p:cNvPr id="27" name="Text 84"/>
          <p:cNvSpPr txBox="1"/>
          <p:nvPr/>
        </p:nvSpPr>
        <p:spPr>
          <a:xfrm>
            <a:off x="3566160" y="5175504"/>
            <a:ext cx="7891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One workflow from scheduling to a downloadable PDF scorecard for the Interviewer.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Definition</a:t>
            </a:r>
            <a:endParaRPr lang="en-US" sz="3200" dirty="0"/>
          </a:p>
        </p:txBody>
      </p:sp>
      <p:sp>
        <p:nvSpPr>
          <p:cNvPr id="3" name="Shape 85"/>
          <p:cNvSpPr/>
          <p:nvPr/>
        </p:nvSpPr>
        <p:spPr>
          <a:xfrm>
            <a:off x="548640" y="1371600"/>
            <a:ext cx="11091672" cy="2148840"/>
          </a:xfrm>
          <a:prstGeom prst="roundRect">
            <a:avLst>
              <a:gd name="adj" fmla="val 6809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4" name="Text 86"/>
          <p:cNvSpPr txBox="1"/>
          <p:nvPr/>
        </p:nvSpPr>
        <p:spPr>
          <a:xfrm>
            <a:off x="868680" y="137160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“</a:t>
            </a:r>
            <a:endParaRPr lang="en-US" sz="8000" dirty="0"/>
          </a:p>
        </p:txBody>
      </p:sp>
      <p:sp>
        <p:nvSpPr>
          <p:cNvPr id="5" name="Text 87"/>
          <p:cNvSpPr txBox="1"/>
          <p:nvPr/>
        </p:nvSpPr>
        <p:spPr>
          <a:xfrm>
            <a:off x="1645920" y="1463040"/>
            <a:ext cx="94457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bg1"/>
                </a:solidFill>
              </a:rPr>
              <a:t>Technical interviews depend on disconnected tools and manual evaluation, making them difficult to manage, monitor and assess consistently.</a:t>
            </a:r>
            <a:endParaRPr lang="en-US" sz="2700" dirty="0"/>
          </a:p>
        </p:txBody>
      </p:sp>
      <p:sp>
        <p:nvSpPr>
          <p:cNvPr id="6" name="Shape 88"/>
          <p:cNvSpPr/>
          <p:nvPr/>
        </p:nvSpPr>
        <p:spPr>
          <a:xfrm>
            <a:off x="548640" y="3840480"/>
            <a:ext cx="3593592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7" name="Shape 89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8" name="Icon FaPuzzlePiece 90" descr="PuzzlePiec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229100"/>
            <a:ext cx="320040" cy="320040"/>
          </a:xfrm>
          <a:prstGeom prst="rect">
            <a:avLst/>
          </a:prstGeom>
        </p:spPr>
      </p:pic>
      <p:sp>
        <p:nvSpPr>
          <p:cNvPr id="9" name="Text 91"/>
          <p:cNvSpPr txBox="1"/>
          <p:nvPr/>
        </p:nvSpPr>
        <p:spPr>
          <a:xfrm>
            <a:off x="777240" y="480060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Disconnected tools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Video, coding and scheduling live on different platforms.</a:t>
            </a:r>
            <a:endParaRPr lang="en-US" sz="1700" dirty="0"/>
          </a:p>
        </p:txBody>
      </p:sp>
      <p:sp>
        <p:nvSpPr>
          <p:cNvPr id="10" name="Shape 92"/>
          <p:cNvSpPr/>
          <p:nvPr/>
        </p:nvSpPr>
        <p:spPr>
          <a:xfrm>
            <a:off x="4297680" y="3840480"/>
            <a:ext cx="3593592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1" name="Shape 93"/>
          <p:cNvSpPr/>
          <p:nvPr/>
        </p:nvSpPr>
        <p:spPr>
          <a:xfrm>
            <a:off x="4526280" y="406908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2" name="Icon FaClipboardCheck 94" descr="ClipboardChe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4229100"/>
            <a:ext cx="320040" cy="320040"/>
          </a:xfrm>
          <a:prstGeom prst="rect">
            <a:avLst/>
          </a:prstGeom>
        </p:spPr>
      </p:pic>
      <p:sp>
        <p:nvSpPr>
          <p:cNvPr id="13" name="Text 95"/>
          <p:cNvSpPr txBox="1"/>
          <p:nvPr/>
        </p:nvSpPr>
        <p:spPr>
          <a:xfrm>
            <a:off x="4526280" y="480060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Manual evaluation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Scoring depends on notes, causing delays and inconsistency.</a:t>
            </a:r>
            <a:endParaRPr lang="en-US" sz="1700" dirty="0"/>
          </a:p>
        </p:txBody>
      </p:sp>
      <p:sp>
        <p:nvSpPr>
          <p:cNvPr id="14" name="Shape 96"/>
          <p:cNvSpPr/>
          <p:nvPr/>
        </p:nvSpPr>
        <p:spPr>
          <a:xfrm>
            <a:off x="8046720" y="3840480"/>
            <a:ext cx="3593592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5" name="Shape 97"/>
          <p:cNvSpPr/>
          <p:nvPr/>
        </p:nvSpPr>
        <p:spPr>
          <a:xfrm>
            <a:off x="8275320" y="406908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6" name="Icon FaEye 98" descr="Ey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340" y="4229100"/>
            <a:ext cx="320040" cy="320040"/>
          </a:xfrm>
          <a:prstGeom prst="rect">
            <a:avLst/>
          </a:prstGeom>
        </p:spPr>
      </p:pic>
      <p:sp>
        <p:nvSpPr>
          <p:cNvPr id="17" name="Text 99"/>
          <p:cNvSpPr txBox="1"/>
          <p:nvPr/>
        </p:nvSpPr>
        <p:spPr>
          <a:xfrm>
            <a:off x="8275320" y="480060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Hard to monitor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Interview integrity and records are difficult to keep in one place.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3" name="Shape 100"/>
          <p:cNvSpPr/>
          <p:nvPr/>
        </p:nvSpPr>
        <p:spPr>
          <a:xfrm>
            <a:off x="548640" y="1371600"/>
            <a:ext cx="3566160" cy="3017520"/>
          </a:xfrm>
          <a:prstGeom prst="roundRect">
            <a:avLst>
              <a:gd name="adj" fmla="val 4848"/>
            </a:avLst>
          </a:prstGeom>
          <a:solidFill>
            <a:schemeClr val="accent1"/>
          </a:solidFill>
          <a:ln/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4" name="Shape 101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chemeClr val="bg1">
              <a:alpha val="20000"/>
            </a:schemeClr>
          </a:solidFill>
          <a:ln/>
        </p:spPr>
      </p:sp>
      <p:pic>
        <p:nvPicPr>
          <p:cNvPr id="5" name="Icon FaBullseye 102" descr="Bullsey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1817370"/>
            <a:ext cx="342900" cy="342900"/>
          </a:xfrm>
          <a:prstGeom prst="rect">
            <a:avLst/>
          </a:prstGeom>
        </p:spPr>
      </p:pic>
      <p:sp>
        <p:nvSpPr>
          <p:cNvPr id="6" name="Text 103"/>
          <p:cNvSpPr txBox="1"/>
          <p:nvPr/>
        </p:nvSpPr>
        <p:spPr>
          <a:xfrm>
            <a:off x="822960" y="24688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kern="0" spc="200" dirty="0">
                <a:solidFill>
                  <a:schemeClr val="bg2"/>
                </a:solidFill>
              </a:rPr>
              <a:t>MAIN OBJECTIVE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Build a unified web platform for live technical interviews with integrated video, coding, AI review and reporting.</a:t>
            </a:r>
            <a:endParaRPr lang="en-US" sz="1200" dirty="0"/>
          </a:p>
        </p:txBody>
      </p:sp>
      <p:sp>
        <p:nvSpPr>
          <p:cNvPr id="7" name="Shape 104"/>
          <p:cNvSpPr/>
          <p:nvPr/>
        </p:nvSpPr>
        <p:spPr>
          <a:xfrm>
            <a:off x="4343400" y="1371600"/>
            <a:ext cx="35204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8" name="Shape 105"/>
          <p:cNvSpPr/>
          <p:nvPr/>
        </p:nvSpPr>
        <p:spPr>
          <a:xfrm>
            <a:off x="4526280" y="1554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106"/>
          <p:cNvSpPr txBox="1"/>
          <p:nvPr/>
        </p:nvSpPr>
        <p:spPr>
          <a:xfrm>
            <a:off x="452628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107"/>
          <p:cNvSpPr txBox="1"/>
          <p:nvPr/>
        </p:nvSpPr>
        <p:spPr>
          <a:xfrm>
            <a:off x="5074920" y="14630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Unified web app with integrated video and coding environments</a:t>
            </a:r>
            <a:endParaRPr lang="en-US" sz="1400" dirty="0"/>
          </a:p>
        </p:txBody>
      </p:sp>
      <p:sp>
        <p:nvSpPr>
          <p:cNvPr id="11" name="Shape 108"/>
          <p:cNvSpPr/>
          <p:nvPr/>
        </p:nvSpPr>
        <p:spPr>
          <a:xfrm>
            <a:off x="8001000" y="1371600"/>
            <a:ext cx="35204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2" name="Shape 109"/>
          <p:cNvSpPr/>
          <p:nvPr/>
        </p:nvSpPr>
        <p:spPr>
          <a:xfrm>
            <a:off x="8183880" y="1554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0"/>
          <p:cNvSpPr txBox="1"/>
          <p:nvPr/>
        </p:nvSpPr>
        <p:spPr>
          <a:xfrm>
            <a:off x="818388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1"/>
          <p:cNvSpPr txBox="1"/>
          <p:nvPr/>
        </p:nvSpPr>
        <p:spPr>
          <a:xfrm>
            <a:off x="8732520" y="14630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Real-time synchronized editor with multi-language code execution</a:t>
            </a:r>
            <a:endParaRPr lang="en-US" sz="1400" dirty="0"/>
          </a:p>
        </p:txBody>
      </p:sp>
      <p:sp>
        <p:nvSpPr>
          <p:cNvPr id="15" name="Shape 112"/>
          <p:cNvSpPr/>
          <p:nvPr/>
        </p:nvSpPr>
        <p:spPr>
          <a:xfrm>
            <a:off x="4343400" y="2926080"/>
            <a:ext cx="35204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6" name="Shape 113"/>
          <p:cNvSpPr/>
          <p:nvPr/>
        </p:nvSpPr>
        <p:spPr>
          <a:xfrm>
            <a:off x="4526280" y="3108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14"/>
          <p:cNvSpPr txBox="1"/>
          <p:nvPr/>
        </p:nvSpPr>
        <p:spPr>
          <a:xfrm>
            <a:off x="452628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15"/>
          <p:cNvSpPr txBox="1"/>
          <p:nvPr/>
        </p:nvSpPr>
        <p:spPr>
          <a:xfrm>
            <a:off x="5074920" y="301752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AI-based code review and real-time proctoring (e.g., tab-switch tracking)</a:t>
            </a:r>
            <a:endParaRPr lang="en-US" sz="1400" dirty="0"/>
          </a:p>
        </p:txBody>
      </p:sp>
      <p:sp>
        <p:nvSpPr>
          <p:cNvPr id="19" name="Shape 116"/>
          <p:cNvSpPr/>
          <p:nvPr/>
        </p:nvSpPr>
        <p:spPr>
          <a:xfrm>
            <a:off x="8001000" y="2926080"/>
            <a:ext cx="35204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0" name="Shape 117"/>
          <p:cNvSpPr/>
          <p:nvPr/>
        </p:nvSpPr>
        <p:spPr>
          <a:xfrm>
            <a:off x="8183880" y="3108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18"/>
          <p:cNvSpPr txBox="1"/>
          <p:nvPr/>
        </p:nvSpPr>
        <p:spPr>
          <a:xfrm>
            <a:off x="818388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119"/>
          <p:cNvSpPr txBox="1"/>
          <p:nvPr/>
        </p:nvSpPr>
        <p:spPr>
          <a:xfrm>
            <a:off x="8732520" y="301752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Automated, downloadable PDF scorecards for post-interview workflows</a:t>
            </a:r>
            <a:endParaRPr lang="en-US" sz="1400" dirty="0"/>
          </a:p>
        </p:txBody>
      </p:sp>
      <p:sp>
        <p:nvSpPr>
          <p:cNvPr id="23" name="Shape 120"/>
          <p:cNvSpPr/>
          <p:nvPr/>
        </p:nvSpPr>
        <p:spPr>
          <a:xfrm>
            <a:off x="548640" y="461772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accent3">
              <a:alpha val="10000"/>
            </a:schemeClr>
          </a:solidFill>
          <a:ln w="9525">
            <a:solidFill>
              <a:srgbClr val="BFE6D6"/>
            </a:solidFill>
            <a:prstDash val="solid"/>
          </a:ln>
        </p:spPr>
      </p:sp>
      <p:sp>
        <p:nvSpPr>
          <p:cNvPr id="24" name="Text 121"/>
          <p:cNvSpPr txBox="1"/>
          <p:nvPr/>
        </p:nvSpPr>
        <p:spPr>
          <a:xfrm>
            <a:off x="777240" y="470916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Expected outcome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complete interview workflow, from scheduling to PDF report, on one platform.</a:t>
            </a:r>
            <a:endParaRPr lang="en-US" sz="1500" dirty="0"/>
          </a:p>
        </p:txBody>
      </p:sp>
      <p:sp>
        <p:nvSpPr>
          <p:cNvPr id="25" name="Shape 122"/>
          <p:cNvSpPr/>
          <p:nvPr/>
        </p:nvSpPr>
        <p:spPr>
          <a:xfrm>
            <a:off x="6199632" y="461772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accent2">
              <a:alpha val="10000"/>
            </a:schemeClr>
          </a:solidFill>
          <a:ln w="9525">
            <a:solidFill>
              <a:srgbClr val="B8E1EA"/>
            </a:solidFill>
            <a:prstDash val="solid"/>
          </a:ln>
        </p:spPr>
      </p:sp>
      <p:sp>
        <p:nvSpPr>
          <p:cNvPr id="26" name="Text 123"/>
          <p:cNvSpPr txBox="1"/>
          <p:nvPr/>
        </p:nvSpPr>
        <p:spPr>
          <a:xfrm>
            <a:off x="6428232" y="470916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Benefits to users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Interviewers: less tool switching, faster evaluation.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Candidates: a smoother, consistent interview experience.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Existing System</a:t>
            </a:r>
            <a:endParaRPr lang="en-US" sz="3200" dirty="0"/>
          </a:p>
        </p:txBody>
      </p:sp>
      <p:sp>
        <p:nvSpPr>
          <p:cNvPr id="3" name="Text 124"/>
          <p:cNvSpPr txBox="1"/>
          <p:nvPr/>
        </p:nvSpPr>
        <p:spPr>
          <a:xfrm>
            <a:off x="5486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Typical current workflow</a:t>
            </a:r>
            <a:endParaRPr lang="en-US" sz="1300" dirty="0"/>
          </a:p>
        </p:txBody>
      </p:sp>
      <p:sp>
        <p:nvSpPr>
          <p:cNvPr id="4" name="Shape 125"/>
          <p:cNvSpPr/>
          <p:nvPr/>
        </p:nvSpPr>
        <p:spPr>
          <a:xfrm>
            <a:off x="548640" y="1627632"/>
            <a:ext cx="2011680" cy="868680"/>
          </a:xfrm>
          <a:prstGeom prst="roundRect">
            <a:avLst>
              <a:gd name="adj" fmla="val 10526"/>
            </a:avLst>
          </a:prstGeom>
          <a:solidFill>
            <a:schemeClr val="accent5">
              <a:alpha val="10000"/>
            </a:schemeClr>
          </a:solidFill>
          <a:ln w="9525">
            <a:solidFill>
              <a:srgbClr val="D3DAE5"/>
            </a:solidFill>
            <a:prstDash val="solid"/>
          </a:ln>
        </p:spPr>
      </p:sp>
      <p:sp>
        <p:nvSpPr>
          <p:cNvPr id="5" name="Text 126"/>
          <p:cNvSpPr txBox="1"/>
          <p:nvPr/>
        </p:nvSpPr>
        <p:spPr>
          <a:xfrm>
            <a:off x="640080" y="16276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Schedule interview</a:t>
            </a:r>
            <a:endParaRPr lang="en-US" sz="1200" dirty="0"/>
          </a:p>
        </p:txBody>
      </p:sp>
      <p:sp>
        <p:nvSpPr>
          <p:cNvPr id="6" name="Connector 127"/>
          <p:cNvSpPr/>
          <p:nvPr/>
        </p:nvSpPr>
        <p:spPr>
          <a:xfrm>
            <a:off x="2587752" y="2057400"/>
            <a:ext cx="20116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Shape 128"/>
          <p:cNvSpPr/>
          <p:nvPr/>
        </p:nvSpPr>
        <p:spPr>
          <a:xfrm>
            <a:off x="2816352" y="1627632"/>
            <a:ext cx="2011680" cy="868680"/>
          </a:xfrm>
          <a:prstGeom prst="roundRect">
            <a:avLst>
              <a:gd name="adj" fmla="val 10526"/>
            </a:avLst>
          </a:prstGeom>
          <a:solidFill>
            <a:schemeClr val="accent5">
              <a:alpha val="10000"/>
            </a:schemeClr>
          </a:solidFill>
          <a:ln w="9525">
            <a:solidFill>
              <a:srgbClr val="D3DAE5"/>
            </a:solidFill>
            <a:prstDash val="solid"/>
          </a:ln>
        </p:spPr>
      </p:sp>
      <p:sp>
        <p:nvSpPr>
          <p:cNvPr id="8" name="Text 129"/>
          <p:cNvSpPr txBox="1"/>
          <p:nvPr/>
        </p:nvSpPr>
        <p:spPr>
          <a:xfrm>
            <a:off x="2907792" y="16276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Video call (Zoom / Google Meet)</a:t>
            </a:r>
            <a:endParaRPr lang="en-US" sz="1200" dirty="0"/>
          </a:p>
        </p:txBody>
      </p:sp>
      <p:sp>
        <p:nvSpPr>
          <p:cNvPr id="9" name="Connector 130"/>
          <p:cNvSpPr/>
          <p:nvPr/>
        </p:nvSpPr>
        <p:spPr>
          <a:xfrm>
            <a:off x="4855464" y="2057400"/>
            <a:ext cx="20116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hape 131"/>
          <p:cNvSpPr/>
          <p:nvPr/>
        </p:nvSpPr>
        <p:spPr>
          <a:xfrm>
            <a:off x="5084064" y="1627632"/>
            <a:ext cx="2011680" cy="868680"/>
          </a:xfrm>
          <a:prstGeom prst="roundRect">
            <a:avLst>
              <a:gd name="adj" fmla="val 10526"/>
            </a:avLst>
          </a:prstGeom>
          <a:solidFill>
            <a:schemeClr val="accent5">
              <a:alpha val="10000"/>
            </a:schemeClr>
          </a:solidFill>
          <a:ln w="9525">
            <a:solidFill>
              <a:srgbClr val="D3DAE5"/>
            </a:solidFill>
            <a:prstDash val="solid"/>
          </a:ln>
        </p:spPr>
      </p:sp>
      <p:sp>
        <p:nvSpPr>
          <p:cNvPr id="11" name="Text 132"/>
          <p:cNvSpPr txBox="1"/>
          <p:nvPr/>
        </p:nvSpPr>
        <p:spPr>
          <a:xfrm>
            <a:off x="5175504" y="16276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Coding task (HackerRank / LeetCode or screen share)</a:t>
            </a:r>
            <a:endParaRPr lang="en-US" sz="1200" dirty="0"/>
          </a:p>
        </p:txBody>
      </p:sp>
      <p:sp>
        <p:nvSpPr>
          <p:cNvPr id="12" name="Connector 133"/>
          <p:cNvSpPr/>
          <p:nvPr/>
        </p:nvSpPr>
        <p:spPr>
          <a:xfrm>
            <a:off x="7123176" y="2057400"/>
            <a:ext cx="20116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Shape 134"/>
          <p:cNvSpPr/>
          <p:nvPr/>
        </p:nvSpPr>
        <p:spPr>
          <a:xfrm>
            <a:off x="7351776" y="1627632"/>
            <a:ext cx="2011680" cy="868680"/>
          </a:xfrm>
          <a:prstGeom prst="roundRect">
            <a:avLst>
              <a:gd name="adj" fmla="val 10526"/>
            </a:avLst>
          </a:prstGeom>
          <a:solidFill>
            <a:schemeClr val="accent5">
              <a:alpha val="10000"/>
            </a:schemeClr>
          </a:solidFill>
          <a:ln w="9525">
            <a:solidFill>
              <a:srgbClr val="D3DAE5"/>
            </a:solidFill>
            <a:prstDash val="solid"/>
          </a:ln>
        </p:spPr>
      </p:sp>
      <p:sp>
        <p:nvSpPr>
          <p:cNvPr id="14" name="Text 135"/>
          <p:cNvSpPr txBox="1"/>
          <p:nvPr/>
        </p:nvSpPr>
        <p:spPr>
          <a:xfrm>
            <a:off x="7443216" y="16276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Manual evaluation</a:t>
            </a:r>
            <a:endParaRPr lang="en-US" sz="1200" dirty="0"/>
          </a:p>
        </p:txBody>
      </p:sp>
      <p:sp>
        <p:nvSpPr>
          <p:cNvPr id="15" name="Connector 136"/>
          <p:cNvSpPr/>
          <p:nvPr/>
        </p:nvSpPr>
        <p:spPr>
          <a:xfrm>
            <a:off x="9390888" y="2057400"/>
            <a:ext cx="20116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hape 137"/>
          <p:cNvSpPr/>
          <p:nvPr/>
        </p:nvSpPr>
        <p:spPr>
          <a:xfrm>
            <a:off x="9619488" y="1627632"/>
            <a:ext cx="2011680" cy="868680"/>
          </a:xfrm>
          <a:prstGeom prst="roundRect">
            <a:avLst>
              <a:gd name="adj" fmla="val 10526"/>
            </a:avLst>
          </a:prstGeom>
          <a:solidFill>
            <a:schemeClr val="accent5">
              <a:alpha val="10000"/>
            </a:schemeClr>
          </a:solidFill>
          <a:ln w="9525">
            <a:solidFill>
              <a:srgbClr val="D3DAE5"/>
            </a:solidFill>
            <a:prstDash val="solid"/>
          </a:ln>
        </p:spPr>
      </p:sp>
      <p:sp>
        <p:nvSpPr>
          <p:cNvPr id="17" name="Text 138"/>
          <p:cNvSpPr txBox="1"/>
          <p:nvPr/>
        </p:nvSpPr>
        <p:spPr>
          <a:xfrm>
            <a:off x="9710928" y="16276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Separate records</a:t>
            </a:r>
            <a:endParaRPr lang="en-US" sz="1200" dirty="0"/>
          </a:p>
        </p:txBody>
      </p:sp>
      <p:sp>
        <p:nvSpPr>
          <p:cNvPr id="18" name="Shape 139"/>
          <p:cNvSpPr/>
          <p:nvPr/>
        </p:nvSpPr>
        <p:spPr>
          <a:xfrm>
            <a:off x="548640" y="2788920"/>
            <a:ext cx="3593592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9" name="Shape 140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0" name="Icon FaVideo 141" descr="Video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08960"/>
            <a:ext cx="274320" cy="274320"/>
          </a:xfrm>
          <a:prstGeom prst="rect">
            <a:avLst/>
          </a:prstGeom>
        </p:spPr>
      </p:pic>
      <p:sp>
        <p:nvSpPr>
          <p:cNvPr id="21" name="Text 142"/>
          <p:cNvSpPr txBox="1"/>
          <p:nvPr/>
        </p:nvSpPr>
        <p:spPr>
          <a:xfrm>
            <a:off x="146304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Zoom / Google Meet</a:t>
            </a:r>
            <a:endParaRPr lang="en-US" sz="1700" dirty="0"/>
          </a:p>
        </p:txBody>
      </p:sp>
      <p:sp>
        <p:nvSpPr>
          <p:cNvPr id="22" name="Text 143"/>
          <p:cNvSpPr txBox="1"/>
          <p:nvPr/>
        </p:nvSpPr>
        <p:spPr>
          <a:xfrm>
            <a:off x="777240" y="3703320"/>
            <a:ext cx="3154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STRENGTH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Strong video and audio communication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LIMITATION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built-in coding environment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Code is shared through screen sharing</a:t>
            </a:r>
            <a:endParaRPr lang="en-US" sz="1100" dirty="0"/>
          </a:p>
        </p:txBody>
      </p:sp>
      <p:sp>
        <p:nvSpPr>
          <p:cNvPr id="23" name="Shape 144"/>
          <p:cNvSpPr/>
          <p:nvPr/>
        </p:nvSpPr>
        <p:spPr>
          <a:xfrm>
            <a:off x="4297680" y="2788920"/>
            <a:ext cx="3593592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4" name="Shape 145"/>
          <p:cNvSpPr/>
          <p:nvPr/>
        </p:nvSpPr>
        <p:spPr>
          <a:xfrm>
            <a:off x="4526280" y="297180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5" name="Icon FaCode 146" descr="Cod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108960"/>
            <a:ext cx="274320" cy="274320"/>
          </a:xfrm>
          <a:prstGeom prst="rect">
            <a:avLst/>
          </a:prstGeom>
        </p:spPr>
      </p:pic>
      <p:sp>
        <p:nvSpPr>
          <p:cNvPr id="26" name="Text 147"/>
          <p:cNvSpPr txBox="1"/>
          <p:nvPr/>
        </p:nvSpPr>
        <p:spPr>
          <a:xfrm>
            <a:off x="521208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HackerRank / LeetCode</a:t>
            </a:r>
            <a:endParaRPr lang="en-US" sz="1700" dirty="0"/>
          </a:p>
        </p:txBody>
      </p:sp>
      <p:sp>
        <p:nvSpPr>
          <p:cNvPr id="27" name="Text 148"/>
          <p:cNvSpPr txBox="1"/>
          <p:nvPr/>
        </p:nvSpPr>
        <p:spPr>
          <a:xfrm>
            <a:off x="4526280" y="3703320"/>
            <a:ext cx="3154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STRENGTH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Strong code execution and practice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LIMITATION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Video usually needs a separate tool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Interviewer evaluates code manually</a:t>
            </a:r>
            <a:endParaRPr lang="en-US" sz="1100" dirty="0"/>
          </a:p>
        </p:txBody>
      </p:sp>
      <p:sp>
        <p:nvSpPr>
          <p:cNvPr id="28" name="Shape 149"/>
          <p:cNvSpPr/>
          <p:nvPr/>
        </p:nvSpPr>
        <p:spPr>
          <a:xfrm>
            <a:off x="8046720" y="2788920"/>
            <a:ext cx="3593592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9" name="Shape 150"/>
          <p:cNvSpPr/>
          <p:nvPr/>
        </p:nvSpPr>
        <p:spPr>
          <a:xfrm>
            <a:off x="8275320" y="297180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0" name="Icon FaTasks 151" descr="Task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3108960"/>
            <a:ext cx="274320" cy="274320"/>
          </a:xfrm>
          <a:prstGeom prst="rect">
            <a:avLst/>
          </a:prstGeom>
        </p:spPr>
      </p:pic>
      <p:sp>
        <p:nvSpPr>
          <p:cNvPr id="31" name="Text 152"/>
          <p:cNvSpPr txBox="1"/>
          <p:nvPr/>
        </p:nvSpPr>
        <p:spPr>
          <a:xfrm>
            <a:off x="896112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Overall limitations</a:t>
            </a:r>
            <a:endParaRPr lang="en-US" sz="1700" dirty="0"/>
          </a:p>
        </p:txBody>
      </p:sp>
      <p:sp>
        <p:nvSpPr>
          <p:cNvPr id="32" name="Text 153"/>
          <p:cNvSpPr txBox="1"/>
          <p:nvPr/>
        </p:nvSpPr>
        <p:spPr>
          <a:xfrm>
            <a:off x="8275320" y="3703320"/>
            <a:ext cx="3154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LIMITATION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Manual, time-consuming evaluation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Management spread across tools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Integrity monitoring handled separately</a:t>
            </a:r>
            <a:endParaRPr lang="en-US" sz="1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Proposed System</a:t>
            </a:r>
            <a:endParaRPr lang="en-US" sz="3200" dirty="0"/>
          </a:p>
        </p:txBody>
      </p:sp>
      <p:sp>
        <p:nvSpPr>
          <p:cNvPr id="3" name="Shape 154"/>
          <p:cNvSpPr/>
          <p:nvPr/>
        </p:nvSpPr>
        <p:spPr>
          <a:xfrm>
            <a:off x="548640" y="1371600"/>
            <a:ext cx="1645920" cy="7315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4" name="Text 155"/>
          <p:cNvSpPr txBox="1"/>
          <p:nvPr/>
        </p:nvSpPr>
        <p:spPr>
          <a:xfrm>
            <a:off x="54864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Schedule</a:t>
            </a:r>
            <a:endParaRPr lang="en-US" sz="1400" dirty="0"/>
          </a:p>
        </p:txBody>
      </p:sp>
      <p:sp>
        <p:nvSpPr>
          <p:cNvPr id="5" name="Connector 156"/>
          <p:cNvSpPr/>
          <p:nvPr/>
        </p:nvSpPr>
        <p:spPr>
          <a:xfrm>
            <a:off x="2212848" y="1737360"/>
            <a:ext cx="20665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Shape 157"/>
          <p:cNvSpPr/>
          <p:nvPr/>
        </p:nvSpPr>
        <p:spPr>
          <a:xfrm>
            <a:off x="2437790" y="1371600"/>
            <a:ext cx="1645920" cy="7315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7" name="Text 158"/>
          <p:cNvSpPr txBox="1"/>
          <p:nvPr/>
        </p:nvSpPr>
        <p:spPr>
          <a:xfrm>
            <a:off x="243779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Join room</a:t>
            </a:r>
            <a:endParaRPr lang="en-US" sz="1400" dirty="0"/>
          </a:p>
        </p:txBody>
      </p:sp>
      <p:sp>
        <p:nvSpPr>
          <p:cNvPr id="8" name="Connector 159"/>
          <p:cNvSpPr/>
          <p:nvPr/>
        </p:nvSpPr>
        <p:spPr>
          <a:xfrm>
            <a:off x="4101998" y="1737360"/>
            <a:ext cx="20665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hape 160"/>
          <p:cNvSpPr/>
          <p:nvPr/>
        </p:nvSpPr>
        <p:spPr>
          <a:xfrm>
            <a:off x="4326941" y="1371600"/>
            <a:ext cx="1645920" cy="7315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10" name="Text 161"/>
          <p:cNvSpPr txBox="1"/>
          <p:nvPr/>
        </p:nvSpPr>
        <p:spPr>
          <a:xfrm>
            <a:off x="4326941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Video + Code</a:t>
            </a:r>
            <a:endParaRPr lang="en-US" sz="1400" dirty="0"/>
          </a:p>
        </p:txBody>
      </p:sp>
      <p:sp>
        <p:nvSpPr>
          <p:cNvPr id="11" name="Connector 162"/>
          <p:cNvSpPr/>
          <p:nvPr/>
        </p:nvSpPr>
        <p:spPr>
          <a:xfrm>
            <a:off x="5991149" y="1737360"/>
            <a:ext cx="20665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163"/>
          <p:cNvSpPr/>
          <p:nvPr/>
        </p:nvSpPr>
        <p:spPr>
          <a:xfrm>
            <a:off x="6216091" y="1371600"/>
            <a:ext cx="1645920" cy="7315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13" name="Text 164"/>
          <p:cNvSpPr txBox="1"/>
          <p:nvPr/>
        </p:nvSpPr>
        <p:spPr>
          <a:xfrm>
            <a:off x="6216091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AI review</a:t>
            </a:r>
            <a:endParaRPr lang="en-US" sz="1400" dirty="0"/>
          </a:p>
        </p:txBody>
      </p:sp>
      <p:sp>
        <p:nvSpPr>
          <p:cNvPr id="14" name="Connector 165"/>
          <p:cNvSpPr/>
          <p:nvPr/>
        </p:nvSpPr>
        <p:spPr>
          <a:xfrm>
            <a:off x="7880299" y="1737360"/>
            <a:ext cx="20665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hape 166"/>
          <p:cNvSpPr/>
          <p:nvPr/>
        </p:nvSpPr>
        <p:spPr>
          <a:xfrm>
            <a:off x="8105242" y="1371600"/>
            <a:ext cx="1645920" cy="7315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16" name="Text 167"/>
          <p:cNvSpPr txBox="1"/>
          <p:nvPr/>
        </p:nvSpPr>
        <p:spPr>
          <a:xfrm>
            <a:off x="8105242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Proctor &amp; score</a:t>
            </a:r>
            <a:endParaRPr lang="en-US" sz="1400" dirty="0"/>
          </a:p>
        </p:txBody>
      </p:sp>
      <p:sp>
        <p:nvSpPr>
          <p:cNvPr id="17" name="Connector 168"/>
          <p:cNvSpPr/>
          <p:nvPr/>
        </p:nvSpPr>
        <p:spPr>
          <a:xfrm>
            <a:off x="9769450" y="1737360"/>
            <a:ext cx="20665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hape 169"/>
          <p:cNvSpPr/>
          <p:nvPr/>
        </p:nvSpPr>
        <p:spPr>
          <a:xfrm>
            <a:off x="9994392" y="1371600"/>
            <a:ext cx="1645920" cy="7315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19" name="Text 170"/>
          <p:cNvSpPr txBox="1"/>
          <p:nvPr/>
        </p:nvSpPr>
        <p:spPr>
          <a:xfrm>
            <a:off x="9994392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PDF report</a:t>
            </a:r>
            <a:endParaRPr lang="en-US" sz="1400" dirty="0"/>
          </a:p>
        </p:txBody>
      </p:sp>
      <p:sp>
        <p:nvSpPr>
          <p:cNvPr id="20" name="Shape 171"/>
          <p:cNvSpPr/>
          <p:nvPr/>
        </p:nvSpPr>
        <p:spPr>
          <a:xfrm>
            <a:off x="548640" y="2423160"/>
            <a:ext cx="3593592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1" name="Shape 172"/>
          <p:cNvSpPr/>
          <p:nvPr/>
        </p:nvSpPr>
        <p:spPr>
          <a:xfrm>
            <a:off x="777240" y="265176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2" name="Icon FaLayerGroup 173" descr="LayerGrou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800350"/>
            <a:ext cx="297180" cy="297180"/>
          </a:xfrm>
          <a:prstGeom prst="rect">
            <a:avLst/>
          </a:prstGeom>
        </p:spPr>
      </p:pic>
      <p:sp>
        <p:nvSpPr>
          <p:cNvPr id="23" name="Text 174"/>
          <p:cNvSpPr txBox="1"/>
          <p:nvPr/>
        </p:nvSpPr>
        <p:spPr>
          <a:xfrm>
            <a:off x="1554480" y="256032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Unified environment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Video, chat and coding in a single interface.</a:t>
            </a:r>
            <a:endParaRPr lang="en-US" sz="1600" dirty="0"/>
          </a:p>
        </p:txBody>
      </p:sp>
      <p:sp>
        <p:nvSpPr>
          <p:cNvPr id="24" name="Shape 175"/>
          <p:cNvSpPr/>
          <p:nvPr/>
        </p:nvSpPr>
        <p:spPr>
          <a:xfrm>
            <a:off x="4297680" y="2423160"/>
            <a:ext cx="3593592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5" name="Shape 176"/>
          <p:cNvSpPr/>
          <p:nvPr/>
        </p:nvSpPr>
        <p:spPr>
          <a:xfrm>
            <a:off x="4526280" y="265176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6" name="Icon FaSync 177" descr="Sync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870" y="2800350"/>
            <a:ext cx="297180" cy="297180"/>
          </a:xfrm>
          <a:prstGeom prst="rect">
            <a:avLst/>
          </a:prstGeom>
        </p:spPr>
      </p:pic>
      <p:sp>
        <p:nvSpPr>
          <p:cNvPr id="27" name="Text 178"/>
          <p:cNvSpPr txBox="1"/>
          <p:nvPr/>
        </p:nvSpPr>
        <p:spPr>
          <a:xfrm>
            <a:off x="5303520" y="256032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Real-time collaboration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Shared Monaco editor kept in sync with Socket.IO.</a:t>
            </a:r>
            <a:endParaRPr lang="en-US" sz="1600" dirty="0"/>
          </a:p>
        </p:txBody>
      </p:sp>
      <p:sp>
        <p:nvSpPr>
          <p:cNvPr id="28" name="Shape 179"/>
          <p:cNvSpPr/>
          <p:nvPr/>
        </p:nvSpPr>
        <p:spPr>
          <a:xfrm>
            <a:off x="8046720" y="2423160"/>
            <a:ext cx="3593592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9" name="Shape 180"/>
          <p:cNvSpPr/>
          <p:nvPr/>
        </p:nvSpPr>
        <p:spPr>
          <a:xfrm>
            <a:off x="8275320" y="265176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0" name="Icon FaRobot 181" descr="Robo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910" y="2800350"/>
            <a:ext cx="297180" cy="297180"/>
          </a:xfrm>
          <a:prstGeom prst="rect">
            <a:avLst/>
          </a:prstGeom>
        </p:spPr>
      </p:pic>
      <p:sp>
        <p:nvSpPr>
          <p:cNvPr id="31" name="Text 182"/>
          <p:cNvSpPr txBox="1"/>
          <p:nvPr/>
        </p:nvSpPr>
        <p:spPr>
          <a:xfrm>
            <a:off x="9052560" y="256032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AI evaluation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Groq API reviews the submitted code.</a:t>
            </a:r>
            <a:endParaRPr lang="en-US" sz="1600" dirty="0"/>
          </a:p>
        </p:txBody>
      </p:sp>
      <p:sp>
        <p:nvSpPr>
          <p:cNvPr id="32" name="Shape 183"/>
          <p:cNvSpPr/>
          <p:nvPr/>
        </p:nvSpPr>
        <p:spPr>
          <a:xfrm>
            <a:off x="548640" y="4251960"/>
            <a:ext cx="3593592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33" name="Shape 184"/>
          <p:cNvSpPr/>
          <p:nvPr/>
        </p:nvSpPr>
        <p:spPr>
          <a:xfrm>
            <a:off x="777240" y="448056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4" name="Icon FaShieldAlt 185" descr="ShieldAl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" y="4629150"/>
            <a:ext cx="297180" cy="297180"/>
          </a:xfrm>
          <a:prstGeom prst="rect">
            <a:avLst/>
          </a:prstGeom>
        </p:spPr>
      </p:pic>
      <p:sp>
        <p:nvSpPr>
          <p:cNvPr id="35" name="Text 186"/>
          <p:cNvSpPr txBox="1"/>
          <p:nvPr/>
        </p:nvSpPr>
        <p:spPr>
          <a:xfrm>
            <a:off x="1554480" y="438912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Proctoring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Tab-switch tracking with warnings and incident records.</a:t>
            </a:r>
            <a:endParaRPr lang="en-US" sz="1600" dirty="0"/>
          </a:p>
        </p:txBody>
      </p:sp>
      <p:sp>
        <p:nvSpPr>
          <p:cNvPr id="36" name="Shape 187"/>
          <p:cNvSpPr/>
          <p:nvPr/>
        </p:nvSpPr>
        <p:spPr>
          <a:xfrm>
            <a:off x="4297680" y="4251960"/>
            <a:ext cx="3593592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37" name="Shape 188"/>
          <p:cNvSpPr/>
          <p:nvPr/>
        </p:nvSpPr>
        <p:spPr>
          <a:xfrm>
            <a:off x="4526280" y="448056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8" name="Icon FaFilePdf 189" descr="FilePdf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4870" y="4629150"/>
            <a:ext cx="297180" cy="297180"/>
          </a:xfrm>
          <a:prstGeom prst="rect">
            <a:avLst/>
          </a:prstGeom>
        </p:spPr>
      </p:pic>
      <p:sp>
        <p:nvSpPr>
          <p:cNvPr id="39" name="Text 190"/>
          <p:cNvSpPr txBox="1"/>
          <p:nvPr/>
        </p:nvSpPr>
        <p:spPr>
          <a:xfrm>
            <a:off x="5303520" y="438912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Automated reports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Downloadable PDF scorecards after the interview.</a:t>
            </a:r>
            <a:endParaRPr lang="en-US" sz="1600" dirty="0"/>
          </a:p>
        </p:txBody>
      </p:sp>
      <p:sp>
        <p:nvSpPr>
          <p:cNvPr id="40" name="Shape 191"/>
          <p:cNvSpPr/>
          <p:nvPr/>
        </p:nvSpPr>
        <p:spPr>
          <a:xfrm>
            <a:off x="8046720" y="4251960"/>
            <a:ext cx="3593592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41" name="Shape 192"/>
          <p:cNvSpPr/>
          <p:nvPr/>
        </p:nvSpPr>
        <p:spPr>
          <a:xfrm>
            <a:off x="8275320" y="448056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2" name="Icon FaHistory 193" descr="History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910" y="4629150"/>
            <a:ext cx="297180" cy="297180"/>
          </a:xfrm>
          <a:prstGeom prst="rect">
            <a:avLst/>
          </a:prstGeom>
        </p:spPr>
      </p:pic>
      <p:sp>
        <p:nvSpPr>
          <p:cNvPr id="43" name="Text 194"/>
          <p:cNvSpPr txBox="1"/>
          <p:nvPr/>
        </p:nvSpPr>
        <p:spPr>
          <a:xfrm>
            <a:off x="9052560" y="438912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Centralized management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Dashboard for sessions, history and secure access.</a:t>
            </a:r>
            <a:endParaRPr lang="en-US" sz="16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Scope of the Project</a:t>
            </a:r>
            <a:endParaRPr lang="en-US" sz="3200" dirty="0"/>
          </a:p>
        </p:txBody>
      </p:sp>
      <p:sp>
        <p:nvSpPr>
          <p:cNvPr id="3" name="Text 195"/>
          <p:cNvSpPr txBox="1"/>
          <p:nvPr/>
        </p:nvSpPr>
        <p:spPr>
          <a:xfrm>
            <a:off x="54864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TARGET USERS</a:t>
            </a:r>
            <a:endParaRPr lang="en-US" sz="1200" dirty="0"/>
          </a:p>
        </p:txBody>
      </p:sp>
      <p:sp>
        <p:nvSpPr>
          <p:cNvPr id="4" name="Shape 196"/>
          <p:cNvSpPr/>
          <p:nvPr/>
        </p:nvSpPr>
        <p:spPr>
          <a:xfrm>
            <a:off x="548640" y="1627632"/>
            <a:ext cx="32918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5" name="Shape 197"/>
          <p:cNvSpPr/>
          <p:nvPr/>
        </p:nvSpPr>
        <p:spPr>
          <a:xfrm>
            <a:off x="777240" y="1856232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6" name="Icon FaUserTie 198" descr="UserTi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016252"/>
            <a:ext cx="320040" cy="320040"/>
          </a:xfrm>
          <a:prstGeom prst="rect">
            <a:avLst/>
          </a:prstGeom>
        </p:spPr>
      </p:pic>
      <p:sp>
        <p:nvSpPr>
          <p:cNvPr id="7" name="Text 199"/>
          <p:cNvSpPr txBox="1"/>
          <p:nvPr/>
        </p:nvSpPr>
        <p:spPr>
          <a:xfrm>
            <a:off x="777240" y="2587752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Interviewer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Schedules, conducts and evaluates interviews.</a:t>
            </a:r>
            <a:endParaRPr lang="en-US" sz="1800" dirty="0"/>
          </a:p>
        </p:txBody>
      </p:sp>
      <p:sp>
        <p:nvSpPr>
          <p:cNvPr id="8" name="Shape 200"/>
          <p:cNvSpPr/>
          <p:nvPr/>
        </p:nvSpPr>
        <p:spPr>
          <a:xfrm>
            <a:off x="548640" y="3913632"/>
            <a:ext cx="32918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9" name="Shape 201"/>
          <p:cNvSpPr/>
          <p:nvPr/>
        </p:nvSpPr>
        <p:spPr>
          <a:xfrm>
            <a:off x="777240" y="4142232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0" name="Icon FaUser 202" descr="Us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302252"/>
            <a:ext cx="320040" cy="320040"/>
          </a:xfrm>
          <a:prstGeom prst="rect">
            <a:avLst/>
          </a:prstGeom>
        </p:spPr>
      </p:pic>
      <p:sp>
        <p:nvSpPr>
          <p:cNvPr id="11" name="Text 203"/>
          <p:cNvSpPr txBox="1"/>
          <p:nvPr/>
        </p:nvSpPr>
        <p:spPr>
          <a:xfrm>
            <a:off x="777240" y="4873752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Candidate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Joins the session, writes and runs code.</a:t>
            </a:r>
            <a:endParaRPr lang="en-US" sz="1800" dirty="0"/>
          </a:p>
        </p:txBody>
      </p:sp>
      <p:sp>
        <p:nvSpPr>
          <p:cNvPr id="12" name="Text 204"/>
          <p:cNvSpPr txBox="1"/>
          <p:nvPr/>
        </p:nvSpPr>
        <p:spPr>
          <a:xfrm>
            <a:off x="411480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FUNCTIONAL COVERAGE (INCLUDED)</a:t>
            </a:r>
            <a:endParaRPr lang="en-US" sz="1200" dirty="0"/>
          </a:p>
        </p:txBody>
      </p:sp>
      <p:sp>
        <p:nvSpPr>
          <p:cNvPr id="13" name="Shape 205"/>
          <p:cNvSpPr/>
          <p:nvPr/>
        </p:nvSpPr>
        <p:spPr>
          <a:xfrm>
            <a:off x="4114800" y="1627632"/>
            <a:ext cx="4114800" cy="443484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14" name="Icon check 206" descr="che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883664"/>
            <a:ext cx="256032" cy="256032"/>
          </a:xfrm>
          <a:prstGeom prst="rect">
            <a:avLst/>
          </a:prstGeom>
        </p:spPr>
      </p:pic>
      <p:sp>
        <p:nvSpPr>
          <p:cNvPr id="15" name="Text 207"/>
          <p:cNvSpPr txBox="1"/>
          <p:nvPr/>
        </p:nvSpPr>
        <p:spPr>
          <a:xfrm>
            <a:off x="4754880" y="18105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Remote technical interviews on one platform</a:t>
            </a:r>
            <a:endParaRPr lang="en-US" sz="1300" dirty="0"/>
          </a:p>
        </p:txBody>
      </p:sp>
      <p:pic>
        <p:nvPicPr>
          <p:cNvPr id="16" name="Icon check 208" descr="che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2468880"/>
            <a:ext cx="256032" cy="256032"/>
          </a:xfrm>
          <a:prstGeom prst="rect">
            <a:avLst/>
          </a:prstGeom>
        </p:spPr>
      </p:pic>
      <p:sp>
        <p:nvSpPr>
          <p:cNvPr id="17" name="Text 209"/>
          <p:cNvSpPr txBox="1"/>
          <p:nvPr/>
        </p:nvSpPr>
        <p:spPr>
          <a:xfrm>
            <a:off x="4754880" y="23957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Real-time video and audio using WebRTC</a:t>
            </a:r>
            <a:endParaRPr lang="en-US" sz="1300" dirty="0"/>
          </a:p>
        </p:txBody>
      </p:sp>
      <p:pic>
        <p:nvPicPr>
          <p:cNvPr id="18" name="Icon check 210" descr="che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054096"/>
            <a:ext cx="256032" cy="256032"/>
          </a:xfrm>
          <a:prstGeom prst="rect">
            <a:avLst/>
          </a:prstGeom>
        </p:spPr>
      </p:pic>
      <p:sp>
        <p:nvSpPr>
          <p:cNvPr id="19" name="Text 211"/>
          <p:cNvSpPr txBox="1"/>
          <p:nvPr/>
        </p:nvSpPr>
        <p:spPr>
          <a:xfrm>
            <a:off x="4754880" y="298094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Collaborative coding with Monaco Editor and Socket.IO</a:t>
            </a:r>
            <a:endParaRPr lang="en-US" sz="1300" dirty="0"/>
          </a:p>
        </p:txBody>
      </p:sp>
      <p:pic>
        <p:nvPicPr>
          <p:cNvPr id="20" name="Icon check 212" descr="che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639312"/>
            <a:ext cx="256032" cy="256032"/>
          </a:xfrm>
          <a:prstGeom prst="rect">
            <a:avLst/>
          </a:prstGeom>
        </p:spPr>
      </p:pic>
      <p:sp>
        <p:nvSpPr>
          <p:cNvPr id="21" name="Text 213"/>
          <p:cNvSpPr txBox="1"/>
          <p:nvPr/>
        </p:nvSpPr>
        <p:spPr>
          <a:xfrm>
            <a:off x="4754880" y="35661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Code execution in multiple programming languages</a:t>
            </a:r>
            <a:endParaRPr lang="en-US" sz="1300" dirty="0"/>
          </a:p>
        </p:txBody>
      </p:sp>
      <p:pic>
        <p:nvPicPr>
          <p:cNvPr id="22" name="Icon check 214" descr="che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4224528"/>
            <a:ext cx="256032" cy="256032"/>
          </a:xfrm>
          <a:prstGeom prst="rect">
            <a:avLst/>
          </a:prstGeom>
        </p:spPr>
      </p:pic>
      <p:sp>
        <p:nvSpPr>
          <p:cNvPr id="23" name="Text 215"/>
          <p:cNvSpPr txBox="1"/>
          <p:nvPr/>
        </p:nvSpPr>
        <p:spPr>
          <a:xfrm>
            <a:off x="4754880" y="415137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AI-based code review using Groq API</a:t>
            </a:r>
            <a:endParaRPr lang="en-US" sz="1300" dirty="0"/>
          </a:p>
        </p:txBody>
      </p:sp>
      <p:pic>
        <p:nvPicPr>
          <p:cNvPr id="24" name="Icon check 216" descr="che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4809744"/>
            <a:ext cx="256032" cy="256032"/>
          </a:xfrm>
          <a:prstGeom prst="rect">
            <a:avLst/>
          </a:prstGeom>
        </p:spPr>
      </p:pic>
      <p:sp>
        <p:nvSpPr>
          <p:cNvPr id="25" name="Text 217"/>
          <p:cNvSpPr txBox="1"/>
          <p:nvPr/>
        </p:nvSpPr>
        <p:spPr>
          <a:xfrm>
            <a:off x="4754880" y="473659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Automated proctoring of suspicious activity</a:t>
            </a:r>
            <a:endParaRPr lang="en-US" sz="1300" dirty="0"/>
          </a:p>
        </p:txBody>
      </p:sp>
      <p:pic>
        <p:nvPicPr>
          <p:cNvPr id="26" name="Icon check 218" descr="che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5394960"/>
            <a:ext cx="256032" cy="256032"/>
          </a:xfrm>
          <a:prstGeom prst="rect">
            <a:avLst/>
          </a:prstGeom>
        </p:spPr>
      </p:pic>
      <p:sp>
        <p:nvSpPr>
          <p:cNvPr id="27" name="Text 219"/>
          <p:cNvSpPr txBox="1"/>
          <p:nvPr/>
        </p:nvSpPr>
        <p:spPr>
          <a:xfrm>
            <a:off x="4754880" y="53218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Detailed PDF interview scorecards</a:t>
            </a:r>
            <a:endParaRPr lang="en-US" sz="1300" dirty="0"/>
          </a:p>
        </p:txBody>
      </p:sp>
      <p:sp>
        <p:nvSpPr>
          <p:cNvPr id="28" name="Text 220"/>
          <p:cNvSpPr txBox="1"/>
          <p:nvPr/>
        </p:nvSpPr>
        <p:spPr>
          <a:xfrm>
            <a:off x="850392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APPLICATION AREA</a:t>
            </a:r>
            <a:endParaRPr lang="en-US" sz="1200" dirty="0"/>
          </a:p>
        </p:txBody>
      </p:sp>
      <p:sp>
        <p:nvSpPr>
          <p:cNvPr id="29" name="Shape 221"/>
          <p:cNvSpPr/>
          <p:nvPr/>
        </p:nvSpPr>
        <p:spPr>
          <a:xfrm>
            <a:off x="8503920" y="1627632"/>
            <a:ext cx="3136392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30" name="Shape 222"/>
          <p:cNvSpPr/>
          <p:nvPr/>
        </p:nvSpPr>
        <p:spPr>
          <a:xfrm>
            <a:off x="8732520" y="1828800"/>
            <a:ext cx="548640" cy="548640"/>
          </a:xfrm>
          <a:prstGeom prst="ellipse">
            <a:avLst/>
          </a:prstGeom>
          <a:solidFill>
            <a:schemeClr val="bg1">
              <a:alpha val="15000"/>
            </a:schemeClr>
          </a:solidFill>
          <a:ln/>
        </p:spPr>
      </p:sp>
      <p:pic>
        <p:nvPicPr>
          <p:cNvPr id="31" name="Icon FaBriefcase 223" descr="Briefcas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1965960"/>
            <a:ext cx="274320" cy="274320"/>
          </a:xfrm>
          <a:prstGeom prst="rect">
            <a:avLst/>
          </a:prstGeom>
        </p:spPr>
      </p:pic>
      <p:sp>
        <p:nvSpPr>
          <p:cNvPr id="32" name="Text 224"/>
          <p:cNvSpPr txBox="1"/>
          <p:nvPr/>
        </p:nvSpPr>
        <p:spPr>
          <a:xfrm>
            <a:off x="8732520" y="25146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Remote technical recruitment and hiring assessments</a:t>
            </a:r>
            <a:endParaRPr lang="en-US" sz="1500" dirty="0"/>
          </a:p>
        </p:txBody>
      </p:sp>
      <p:sp>
        <p:nvSpPr>
          <p:cNvPr id="33" name="Text 225"/>
          <p:cNvSpPr txBox="1"/>
          <p:nvPr/>
        </p:nvSpPr>
        <p:spPr>
          <a:xfrm>
            <a:off x="8503920" y="384048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5"/>
                </a:solidFill>
              </a:rPr>
              <a:t>POSSIBLE FUTURE APPLICATIONS</a:t>
            </a:r>
            <a:endParaRPr lang="en-US" sz="1200" dirty="0"/>
          </a:p>
        </p:txBody>
      </p:sp>
      <p:sp>
        <p:nvSpPr>
          <p:cNvPr id="34" name="Shape 226"/>
          <p:cNvSpPr/>
          <p:nvPr/>
        </p:nvSpPr>
        <p:spPr>
          <a:xfrm>
            <a:off x="8503920" y="4187952"/>
            <a:ext cx="3136392" cy="1874520"/>
          </a:xfrm>
          <a:prstGeom prst="roundRect">
            <a:avLst>
              <a:gd name="adj" fmla="val 5854"/>
            </a:avLst>
          </a:prstGeom>
          <a:solidFill>
            <a:schemeClr val="accent1">
              <a:alpha val="8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35" name="Text 227"/>
          <p:cNvSpPr txBox="1"/>
          <p:nvPr/>
        </p:nvSpPr>
        <p:spPr>
          <a:xfrm>
            <a:off x="8732520" y="42976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Campus placement drives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Coding assessments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Enterprise hiring teams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Literature Review</a:t>
            </a:r>
            <a:endParaRPr lang="en-US" sz="3200" dirty="0"/>
          </a:p>
        </p:txBody>
      </p:sp>
      <p:graphicFrame>
        <p:nvGraphicFramePr>
          <p:cNvPr id="10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462686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47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Title &amp; Year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Author &amp; Publication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Algorithm Used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Feature Extracted / Methodology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Performance Metric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 / Findings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[1] Intelligent Candidate Monitoring and Interview Surveillance System (2026)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Dr. T. Manoj Prasath et al., IJRASET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YOLO + MediaPipe + ML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Face tracking, object detection, gaze estimation, alerts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Detection accuracy (value Not Reported)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Improved remote interview integrity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[2] Secure Real-Time Coding Interview System with AI-Based Evaluation and Monitoring (2026)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Harshavardhan et al., IJARCCE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CRDT + WebSockets + AI + Docker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Collaborative editor, AI evaluation, WebRTC, secure execution, behavioral monitoring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Collaboration accuracy, AI evaluation (values Not Reported)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Integrated platform with secure coding and monitoring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[3] An Intelligent Online Interview System Based on AI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IEEE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Machine Learning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AI-assisted interview automation and candidate assessment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Assessment accuracy (Not Reported)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Improved interview consistency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[4] AI-Based Automatic Interview Assessment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IEEE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NLP + Deep Learning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Automatic evaluation of candidate responses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Precision / recall (Not Reported)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Reduced evaluator bias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[5] Online Remote Proctoring System Using AI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IEEE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Computer Vision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Remote monitoring and malpractice detection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Detection rate (Not Reported)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Enhanced assessment security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[6] Collaborative Online Code Editor Using WebRTC and Socket.IO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IEEE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WebRTC + Socket.IO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Real-time collaborative programming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Synchronization latency (Not Reported)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Improved collaborative coding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[7] Remote Technical Interview Platform with Real-Time Collaboration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IEEE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WebSockets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Live coding, chat, interviewer dashboard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Response time (Not Reported)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Better interview experience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228"/>
          <p:cNvSpPr txBox="1"/>
          <p:nvPr/>
        </p:nvSpPr>
        <p:spPr>
          <a:xfrm>
            <a:off x="548640" y="6144768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Performance values are shown as Not Reported because the source material lists the metric type only. Author details for IEEE entries are not available.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Technologies Used</a:t>
            </a:r>
            <a:endParaRPr lang="en-US" sz="3200" dirty="0"/>
          </a:p>
        </p:txBody>
      </p:sp>
      <p:sp>
        <p:nvSpPr>
          <p:cNvPr id="3" name="Shape 229"/>
          <p:cNvSpPr/>
          <p:nvPr/>
        </p:nvSpPr>
        <p:spPr>
          <a:xfrm>
            <a:off x="548640" y="137160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4" name="Shape 230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5" name="Icon FaReact 231" descr="Reac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6" name="Text 232"/>
          <p:cNvSpPr txBox="1"/>
          <p:nvPr/>
        </p:nvSpPr>
        <p:spPr>
          <a:xfrm>
            <a:off x="1463040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Frontend</a:t>
            </a:r>
            <a:endParaRPr lang="en-US" sz="1800" dirty="0"/>
          </a:p>
        </p:txBody>
      </p:sp>
      <p:sp>
        <p:nvSpPr>
          <p:cNvPr id="7" name="Shape 233"/>
          <p:cNvSpPr/>
          <p:nvPr/>
        </p:nvSpPr>
        <p:spPr>
          <a:xfrm>
            <a:off x="777240" y="2331720"/>
            <a:ext cx="1874520" cy="347472"/>
          </a:xfrm>
          <a:prstGeom prst="roundRect">
            <a:avLst>
              <a:gd name="adj" fmla="val 47368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8" name="Text 234"/>
          <p:cNvSpPr txBox="1"/>
          <p:nvPr/>
        </p:nvSpPr>
        <p:spPr>
          <a:xfrm>
            <a:off x="777240" y="23317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React.js (Vite)</a:t>
            </a:r>
            <a:endParaRPr lang="en-US" sz="1300" dirty="0"/>
          </a:p>
        </p:txBody>
      </p:sp>
      <p:sp>
        <p:nvSpPr>
          <p:cNvPr id="9" name="Shape 235"/>
          <p:cNvSpPr/>
          <p:nvPr/>
        </p:nvSpPr>
        <p:spPr>
          <a:xfrm>
            <a:off x="777240" y="2770632"/>
            <a:ext cx="1572768" cy="347472"/>
          </a:xfrm>
          <a:prstGeom prst="roundRect">
            <a:avLst>
              <a:gd name="adj" fmla="val 47368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10" name="Text 236"/>
          <p:cNvSpPr txBox="1"/>
          <p:nvPr/>
        </p:nvSpPr>
        <p:spPr>
          <a:xfrm>
            <a:off x="777240" y="27706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Tailwind CSS</a:t>
            </a:r>
            <a:endParaRPr lang="en-US" sz="1300" dirty="0"/>
          </a:p>
        </p:txBody>
      </p:sp>
      <p:sp>
        <p:nvSpPr>
          <p:cNvPr id="11" name="Shape 237"/>
          <p:cNvSpPr/>
          <p:nvPr/>
        </p:nvSpPr>
        <p:spPr>
          <a:xfrm>
            <a:off x="2459736" y="2770632"/>
            <a:ext cx="868680" cy="347472"/>
          </a:xfrm>
          <a:prstGeom prst="roundRect">
            <a:avLst>
              <a:gd name="adj" fmla="val 47368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12" name="Text 238"/>
          <p:cNvSpPr txBox="1"/>
          <p:nvPr/>
        </p:nvSpPr>
        <p:spPr>
          <a:xfrm>
            <a:off x="2459736" y="27706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HTML5</a:t>
            </a:r>
            <a:endParaRPr lang="en-US" sz="1300" dirty="0"/>
          </a:p>
        </p:txBody>
      </p:sp>
      <p:sp>
        <p:nvSpPr>
          <p:cNvPr id="13" name="Shape 239"/>
          <p:cNvSpPr/>
          <p:nvPr/>
        </p:nvSpPr>
        <p:spPr>
          <a:xfrm>
            <a:off x="777240" y="3209544"/>
            <a:ext cx="1371600" cy="347472"/>
          </a:xfrm>
          <a:prstGeom prst="roundRect">
            <a:avLst>
              <a:gd name="adj" fmla="val 47368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14" name="Text 240"/>
          <p:cNvSpPr txBox="1"/>
          <p:nvPr/>
        </p:nvSpPr>
        <p:spPr>
          <a:xfrm>
            <a:off x="777240" y="32095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JavaScript</a:t>
            </a:r>
            <a:endParaRPr lang="en-US" sz="1300" dirty="0"/>
          </a:p>
        </p:txBody>
      </p:sp>
      <p:sp>
        <p:nvSpPr>
          <p:cNvPr id="15" name="Shape 241"/>
          <p:cNvSpPr/>
          <p:nvPr/>
        </p:nvSpPr>
        <p:spPr>
          <a:xfrm>
            <a:off x="4297680" y="137160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6" name="Shape 242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7" name="Icon FaServer 243" descr="Serv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737360"/>
            <a:ext cx="274320" cy="274320"/>
          </a:xfrm>
          <a:prstGeom prst="rect">
            <a:avLst/>
          </a:prstGeom>
        </p:spPr>
      </p:pic>
      <p:sp>
        <p:nvSpPr>
          <p:cNvPr id="18" name="Text 244"/>
          <p:cNvSpPr txBox="1"/>
          <p:nvPr/>
        </p:nvSpPr>
        <p:spPr>
          <a:xfrm>
            <a:off x="5212080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Backend</a:t>
            </a:r>
            <a:endParaRPr lang="en-US" sz="1800" dirty="0"/>
          </a:p>
        </p:txBody>
      </p:sp>
      <p:sp>
        <p:nvSpPr>
          <p:cNvPr id="19" name="Shape 245"/>
          <p:cNvSpPr/>
          <p:nvPr/>
        </p:nvSpPr>
        <p:spPr>
          <a:xfrm>
            <a:off x="4526280" y="2331720"/>
            <a:ext cx="1069848" cy="347472"/>
          </a:xfrm>
          <a:prstGeom prst="roundRect">
            <a:avLst>
              <a:gd name="adj" fmla="val 47368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20" name="Text 246"/>
          <p:cNvSpPr txBox="1"/>
          <p:nvPr/>
        </p:nvSpPr>
        <p:spPr>
          <a:xfrm>
            <a:off x="4526280" y="2331720"/>
            <a:ext cx="1069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Node.js</a:t>
            </a:r>
            <a:endParaRPr lang="en-US" sz="1300" dirty="0"/>
          </a:p>
        </p:txBody>
      </p:sp>
      <p:sp>
        <p:nvSpPr>
          <p:cNvPr id="21" name="Shape 247"/>
          <p:cNvSpPr/>
          <p:nvPr/>
        </p:nvSpPr>
        <p:spPr>
          <a:xfrm>
            <a:off x="5705856" y="2331720"/>
            <a:ext cx="1371600" cy="347472"/>
          </a:xfrm>
          <a:prstGeom prst="roundRect">
            <a:avLst>
              <a:gd name="adj" fmla="val 47368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22" name="Text 248"/>
          <p:cNvSpPr txBox="1"/>
          <p:nvPr/>
        </p:nvSpPr>
        <p:spPr>
          <a:xfrm>
            <a:off x="5705856" y="2331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Express.js</a:t>
            </a:r>
            <a:endParaRPr lang="en-US" sz="1300" dirty="0"/>
          </a:p>
        </p:txBody>
      </p:sp>
      <p:sp>
        <p:nvSpPr>
          <p:cNvPr id="23" name="Shape 249"/>
          <p:cNvSpPr/>
          <p:nvPr/>
        </p:nvSpPr>
        <p:spPr>
          <a:xfrm>
            <a:off x="4526280" y="2770632"/>
            <a:ext cx="2176272" cy="347472"/>
          </a:xfrm>
          <a:prstGeom prst="roundRect">
            <a:avLst>
              <a:gd name="adj" fmla="val 47368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24" name="Text 250"/>
          <p:cNvSpPr txBox="1"/>
          <p:nvPr/>
        </p:nvSpPr>
        <p:spPr>
          <a:xfrm>
            <a:off x="4526280" y="277063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JWT authentication</a:t>
            </a:r>
            <a:endParaRPr lang="en-US" sz="1300" dirty="0"/>
          </a:p>
        </p:txBody>
      </p:sp>
      <p:sp>
        <p:nvSpPr>
          <p:cNvPr id="25" name="Shape 251"/>
          <p:cNvSpPr/>
          <p:nvPr/>
        </p:nvSpPr>
        <p:spPr>
          <a:xfrm>
            <a:off x="8046720" y="137160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6" name="Shape 252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7" name="Icon FaDatabase 253" descr="Databas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737360"/>
            <a:ext cx="274320" cy="274320"/>
          </a:xfrm>
          <a:prstGeom prst="rect">
            <a:avLst/>
          </a:prstGeom>
        </p:spPr>
      </p:pic>
      <p:sp>
        <p:nvSpPr>
          <p:cNvPr id="28" name="Text 254"/>
          <p:cNvSpPr txBox="1"/>
          <p:nvPr/>
        </p:nvSpPr>
        <p:spPr>
          <a:xfrm>
            <a:off x="8961120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Database</a:t>
            </a:r>
            <a:endParaRPr lang="en-US" sz="1800" dirty="0"/>
          </a:p>
        </p:txBody>
      </p:sp>
      <p:sp>
        <p:nvSpPr>
          <p:cNvPr id="29" name="Shape 255"/>
          <p:cNvSpPr/>
          <p:nvPr/>
        </p:nvSpPr>
        <p:spPr>
          <a:xfrm>
            <a:off x="8275320" y="2331720"/>
            <a:ext cx="1069848" cy="347472"/>
          </a:xfrm>
          <a:prstGeom prst="roundRect">
            <a:avLst>
              <a:gd name="adj" fmla="val 47368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30" name="Text 256"/>
          <p:cNvSpPr txBox="1"/>
          <p:nvPr/>
        </p:nvSpPr>
        <p:spPr>
          <a:xfrm>
            <a:off x="8275320" y="2331720"/>
            <a:ext cx="1069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MongoDB</a:t>
            </a:r>
            <a:endParaRPr lang="en-US" sz="1300" dirty="0"/>
          </a:p>
        </p:txBody>
      </p:sp>
      <p:sp>
        <p:nvSpPr>
          <p:cNvPr id="31" name="Shape 257"/>
          <p:cNvSpPr/>
          <p:nvPr/>
        </p:nvSpPr>
        <p:spPr>
          <a:xfrm>
            <a:off x="548640" y="393192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32" name="Shape 258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3" name="Icon FaSync 259" descr="Sync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97680"/>
            <a:ext cx="274320" cy="274320"/>
          </a:xfrm>
          <a:prstGeom prst="rect">
            <a:avLst/>
          </a:prstGeom>
        </p:spPr>
      </p:pic>
      <p:sp>
        <p:nvSpPr>
          <p:cNvPr id="34" name="Text 260"/>
          <p:cNvSpPr txBox="1"/>
          <p:nvPr/>
        </p:nvSpPr>
        <p:spPr>
          <a:xfrm>
            <a:off x="146304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Real-Time</a:t>
            </a:r>
            <a:endParaRPr lang="en-US" sz="1800" dirty="0"/>
          </a:p>
        </p:txBody>
      </p:sp>
      <p:sp>
        <p:nvSpPr>
          <p:cNvPr id="35" name="Shape 261"/>
          <p:cNvSpPr/>
          <p:nvPr/>
        </p:nvSpPr>
        <p:spPr>
          <a:xfrm>
            <a:off x="777240" y="4892040"/>
            <a:ext cx="1271016" cy="347472"/>
          </a:xfrm>
          <a:prstGeom prst="roundRect">
            <a:avLst>
              <a:gd name="adj" fmla="val 47368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36" name="Text 262"/>
          <p:cNvSpPr txBox="1"/>
          <p:nvPr/>
        </p:nvSpPr>
        <p:spPr>
          <a:xfrm>
            <a:off x="777240" y="4892040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Socket.IO</a:t>
            </a:r>
            <a:endParaRPr lang="en-US" sz="1300" dirty="0"/>
          </a:p>
        </p:txBody>
      </p:sp>
      <p:sp>
        <p:nvSpPr>
          <p:cNvPr id="37" name="Shape 263"/>
          <p:cNvSpPr/>
          <p:nvPr/>
        </p:nvSpPr>
        <p:spPr>
          <a:xfrm>
            <a:off x="777240" y="5330952"/>
            <a:ext cx="2276856" cy="347472"/>
          </a:xfrm>
          <a:prstGeom prst="roundRect">
            <a:avLst>
              <a:gd name="adj" fmla="val 47368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38" name="Text 264"/>
          <p:cNvSpPr txBox="1"/>
          <p:nvPr/>
        </p:nvSpPr>
        <p:spPr>
          <a:xfrm>
            <a:off x="777240" y="5330952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WebRTC / SimplePeer</a:t>
            </a:r>
            <a:endParaRPr lang="en-US" sz="1300" dirty="0"/>
          </a:p>
        </p:txBody>
      </p:sp>
      <p:sp>
        <p:nvSpPr>
          <p:cNvPr id="39" name="Shape 265"/>
          <p:cNvSpPr/>
          <p:nvPr/>
        </p:nvSpPr>
        <p:spPr>
          <a:xfrm>
            <a:off x="4297680" y="393192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40" name="Shape 266"/>
          <p:cNvSpPr/>
          <p:nvPr/>
        </p:nvSpPr>
        <p:spPr>
          <a:xfrm>
            <a:off x="4526280" y="416052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1" name="Icon FaCode 267" descr="Cod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4297680"/>
            <a:ext cx="274320" cy="274320"/>
          </a:xfrm>
          <a:prstGeom prst="rect">
            <a:avLst/>
          </a:prstGeom>
        </p:spPr>
      </p:pic>
      <p:sp>
        <p:nvSpPr>
          <p:cNvPr id="42" name="Text 268"/>
          <p:cNvSpPr txBox="1"/>
          <p:nvPr/>
        </p:nvSpPr>
        <p:spPr>
          <a:xfrm>
            <a:off x="521208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Code Editor</a:t>
            </a:r>
            <a:endParaRPr lang="en-US" sz="1800" dirty="0"/>
          </a:p>
        </p:txBody>
      </p:sp>
      <p:sp>
        <p:nvSpPr>
          <p:cNvPr id="43" name="Shape 269"/>
          <p:cNvSpPr/>
          <p:nvPr/>
        </p:nvSpPr>
        <p:spPr>
          <a:xfrm>
            <a:off x="4526280" y="4892040"/>
            <a:ext cx="1673352" cy="347472"/>
          </a:xfrm>
          <a:prstGeom prst="roundRect">
            <a:avLst>
              <a:gd name="adj" fmla="val 47368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44" name="Text 270"/>
          <p:cNvSpPr txBox="1"/>
          <p:nvPr/>
        </p:nvSpPr>
        <p:spPr>
          <a:xfrm>
            <a:off x="4526280" y="4892040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Monaco Editor</a:t>
            </a:r>
            <a:endParaRPr lang="en-US" sz="1300" dirty="0"/>
          </a:p>
        </p:txBody>
      </p:sp>
      <p:sp>
        <p:nvSpPr>
          <p:cNvPr id="45" name="Shape 271"/>
          <p:cNvSpPr/>
          <p:nvPr/>
        </p:nvSpPr>
        <p:spPr>
          <a:xfrm>
            <a:off x="8046720" y="3931920"/>
            <a:ext cx="3593592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46" name="Shape 272"/>
          <p:cNvSpPr/>
          <p:nvPr/>
        </p:nvSpPr>
        <p:spPr>
          <a:xfrm>
            <a:off x="8229600" y="420624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7" name="Icon FaRobot 273" descr="Robot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4343400"/>
            <a:ext cx="274320" cy="274320"/>
          </a:xfrm>
          <a:prstGeom prst="rect">
            <a:avLst/>
          </a:prstGeom>
        </p:spPr>
      </p:pic>
      <p:sp>
        <p:nvSpPr>
          <p:cNvPr id="48" name="Text 274"/>
          <p:cNvSpPr txBox="1"/>
          <p:nvPr/>
        </p:nvSpPr>
        <p:spPr>
          <a:xfrm>
            <a:off x="891540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</a:t>
            </a:r>
            <a:endParaRPr lang="en-US" sz="1600" dirty="0"/>
          </a:p>
        </p:txBody>
      </p:sp>
      <p:sp>
        <p:nvSpPr>
          <p:cNvPr id="49" name="Shape 275"/>
          <p:cNvSpPr/>
          <p:nvPr/>
        </p:nvSpPr>
        <p:spPr>
          <a:xfrm>
            <a:off x="8915400" y="4526280"/>
            <a:ext cx="1170432" cy="347472"/>
          </a:xfrm>
          <a:prstGeom prst="roundRect">
            <a:avLst>
              <a:gd name="adj" fmla="val 47368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50" name="Text 276"/>
          <p:cNvSpPr txBox="1"/>
          <p:nvPr/>
        </p:nvSpPr>
        <p:spPr>
          <a:xfrm>
            <a:off x="8915400" y="452628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Groq API</a:t>
            </a:r>
            <a:endParaRPr lang="en-US" sz="1300" dirty="0"/>
          </a:p>
        </p:txBody>
      </p:sp>
      <p:sp>
        <p:nvSpPr>
          <p:cNvPr id="51" name="Shape 277"/>
          <p:cNvSpPr/>
          <p:nvPr/>
        </p:nvSpPr>
        <p:spPr>
          <a:xfrm>
            <a:off x="8046720" y="5166360"/>
            <a:ext cx="3593592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52" name="Shape 278"/>
          <p:cNvSpPr/>
          <p:nvPr/>
        </p:nvSpPr>
        <p:spPr>
          <a:xfrm>
            <a:off x="8229600" y="544068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53" name="Icon FaFilePdf 279" descr="FilePdf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760" y="5577840"/>
            <a:ext cx="274320" cy="274320"/>
          </a:xfrm>
          <a:prstGeom prst="rect">
            <a:avLst/>
          </a:prstGeom>
        </p:spPr>
      </p:pic>
      <p:sp>
        <p:nvSpPr>
          <p:cNvPr id="54" name="Text 280"/>
          <p:cNvSpPr txBox="1"/>
          <p:nvPr/>
        </p:nvSpPr>
        <p:spPr>
          <a:xfrm>
            <a:off x="8915400" y="5257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PDF / Reporting</a:t>
            </a:r>
            <a:endParaRPr lang="en-US" sz="1600" dirty="0"/>
          </a:p>
        </p:txBody>
      </p:sp>
      <p:sp>
        <p:nvSpPr>
          <p:cNvPr id="55" name="Shape 281"/>
          <p:cNvSpPr/>
          <p:nvPr/>
        </p:nvSpPr>
        <p:spPr>
          <a:xfrm>
            <a:off x="8915400" y="5760720"/>
            <a:ext cx="868680" cy="347472"/>
          </a:xfrm>
          <a:prstGeom prst="roundRect">
            <a:avLst>
              <a:gd name="adj" fmla="val 47368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56" name="Text 282"/>
          <p:cNvSpPr txBox="1"/>
          <p:nvPr/>
        </p:nvSpPr>
        <p:spPr>
          <a:xfrm>
            <a:off x="8915400" y="57607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jsPDF</a:t>
            </a:r>
            <a:endParaRPr lang="en-US" sz="1300" dirty="0"/>
          </a:p>
        </p:txBody>
      </p:sp>
      <p:sp>
        <p:nvSpPr>
          <p:cNvPr id="57" name="Shape 283"/>
          <p:cNvSpPr/>
          <p:nvPr/>
        </p:nvSpPr>
        <p:spPr>
          <a:xfrm>
            <a:off x="9893808" y="5760720"/>
            <a:ext cx="1472184" cy="347472"/>
          </a:xfrm>
          <a:prstGeom prst="roundRect">
            <a:avLst>
              <a:gd name="adj" fmla="val 47368"/>
            </a:avLst>
          </a:prstGeom>
          <a:solidFill>
            <a:schemeClr val="accent1">
              <a:alpha val="10000"/>
            </a:schemeClr>
          </a:solidFill>
          <a:ln w="9525">
            <a:solidFill>
              <a:srgbClr val="BFD2FA"/>
            </a:solidFill>
            <a:prstDash val="solid"/>
          </a:ln>
        </p:spPr>
      </p:sp>
      <p:sp>
        <p:nvSpPr>
          <p:cNvPr id="58" name="Text 284"/>
          <p:cNvSpPr txBox="1"/>
          <p:nvPr/>
        </p:nvSpPr>
        <p:spPr>
          <a:xfrm>
            <a:off x="9893808" y="5760720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html2canvas</a:t>
            </a:r>
            <a:endParaRPr lang="en-US" sz="130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Software &amp; Hardware Requirements</a:t>
            </a:r>
            <a:endParaRPr lang="en-US" sz="3200" dirty="0"/>
          </a:p>
        </p:txBody>
      </p:sp>
      <p:sp>
        <p:nvSpPr>
          <p:cNvPr id="3" name="Shape 285"/>
          <p:cNvSpPr/>
          <p:nvPr/>
        </p:nvSpPr>
        <p:spPr>
          <a:xfrm>
            <a:off x="548640" y="1325880"/>
            <a:ext cx="5440680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4" name="Text 286"/>
          <p:cNvSpPr txBox="1"/>
          <p:nvPr/>
        </p:nvSpPr>
        <p:spPr>
          <a:xfrm>
            <a:off x="8229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Software Requirements</a:t>
            </a:r>
            <a:endParaRPr lang="en-US" sz="1800" dirty="0"/>
          </a:p>
        </p:txBody>
      </p:sp>
      <p:sp>
        <p:nvSpPr>
          <p:cNvPr id="5" name="Shape 287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6" name="Icon FaDesktop 288" descr="Deskto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171700"/>
            <a:ext cx="228600" cy="228600"/>
          </a:xfrm>
          <a:prstGeom prst="rect">
            <a:avLst/>
          </a:prstGeom>
        </p:spPr>
      </p:pic>
      <p:sp>
        <p:nvSpPr>
          <p:cNvPr id="7" name="Text 289"/>
          <p:cNvSpPr txBox="1"/>
          <p:nvPr/>
        </p:nvSpPr>
        <p:spPr>
          <a:xfrm>
            <a:off x="1463040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Operating System</a:t>
            </a:r>
            <a:endParaRPr lang="en-US" sz="1300" dirty="0"/>
          </a:p>
        </p:txBody>
      </p:sp>
      <p:sp>
        <p:nvSpPr>
          <p:cNvPr id="8" name="Text 290"/>
          <p:cNvSpPr txBox="1"/>
          <p:nvPr/>
        </p:nvSpPr>
        <p:spPr>
          <a:xfrm>
            <a:off x="2880360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Windows 10 / 11</a:t>
            </a:r>
            <a:endParaRPr lang="en-US" sz="1300" dirty="0"/>
          </a:p>
        </p:txBody>
      </p:sp>
      <p:sp>
        <p:nvSpPr>
          <p:cNvPr id="9" name="Shape 291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0" name="Icon FaGlobe 292" descr="Glob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2811780"/>
            <a:ext cx="228600" cy="228600"/>
          </a:xfrm>
          <a:prstGeom prst="rect">
            <a:avLst/>
          </a:prstGeom>
        </p:spPr>
      </p:pic>
      <p:sp>
        <p:nvSpPr>
          <p:cNvPr id="11" name="Text 293"/>
          <p:cNvSpPr txBox="1"/>
          <p:nvPr/>
        </p:nvSpPr>
        <p:spPr>
          <a:xfrm>
            <a:off x="1463040" y="26517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Browser</a:t>
            </a:r>
            <a:endParaRPr lang="en-US" sz="1300" dirty="0"/>
          </a:p>
        </p:txBody>
      </p:sp>
      <p:sp>
        <p:nvSpPr>
          <p:cNvPr id="12" name="Text 294"/>
          <p:cNvSpPr txBox="1"/>
          <p:nvPr/>
        </p:nvSpPr>
        <p:spPr>
          <a:xfrm>
            <a:off x="2880360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Google Chrome / Microsoft Edge (latest)</a:t>
            </a:r>
            <a:endParaRPr lang="en-US" sz="1300" dirty="0"/>
          </a:p>
        </p:txBody>
      </p:sp>
      <p:sp>
        <p:nvSpPr>
          <p:cNvPr id="13" name="Shape 295"/>
          <p:cNvSpPr/>
          <p:nvPr/>
        </p:nvSpPr>
        <p:spPr>
          <a:xfrm>
            <a:off x="822960" y="333756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4" name="Icon FaLaptopCode 296" descr="LaptopCod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451860"/>
            <a:ext cx="228600" cy="228600"/>
          </a:xfrm>
          <a:prstGeom prst="rect">
            <a:avLst/>
          </a:prstGeom>
        </p:spPr>
      </p:pic>
      <p:sp>
        <p:nvSpPr>
          <p:cNvPr id="15" name="Text 297"/>
          <p:cNvSpPr txBox="1"/>
          <p:nvPr/>
        </p:nvSpPr>
        <p:spPr>
          <a:xfrm>
            <a:off x="1463040" y="3291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Editor / IDE</a:t>
            </a:r>
            <a:endParaRPr lang="en-US" sz="1300" dirty="0"/>
          </a:p>
        </p:txBody>
      </p:sp>
      <p:sp>
        <p:nvSpPr>
          <p:cNvPr id="16" name="Text 298"/>
          <p:cNvSpPr txBox="1"/>
          <p:nvPr/>
        </p:nvSpPr>
        <p:spPr>
          <a:xfrm>
            <a:off x="288036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Visual Studio Code</a:t>
            </a:r>
            <a:endParaRPr lang="en-US" sz="1300" dirty="0"/>
          </a:p>
        </p:txBody>
      </p:sp>
      <p:sp>
        <p:nvSpPr>
          <p:cNvPr id="17" name="Shape 299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8" name="Icon FaNodeJs 300" descr="NodeJ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" y="4091940"/>
            <a:ext cx="228600" cy="228600"/>
          </a:xfrm>
          <a:prstGeom prst="rect">
            <a:avLst/>
          </a:prstGeom>
        </p:spPr>
      </p:pic>
      <p:sp>
        <p:nvSpPr>
          <p:cNvPr id="19" name="Text 301"/>
          <p:cNvSpPr txBox="1"/>
          <p:nvPr/>
        </p:nvSpPr>
        <p:spPr>
          <a:xfrm>
            <a:off x="1463040" y="39319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Runtime</a:t>
            </a:r>
            <a:endParaRPr lang="en-US" sz="1300" dirty="0"/>
          </a:p>
        </p:txBody>
      </p:sp>
      <p:sp>
        <p:nvSpPr>
          <p:cNvPr id="20" name="Text 302"/>
          <p:cNvSpPr txBox="1"/>
          <p:nvPr/>
        </p:nvSpPr>
        <p:spPr>
          <a:xfrm>
            <a:off x="288036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Node.js (LTS) with npm</a:t>
            </a:r>
            <a:endParaRPr lang="en-US" sz="1300" dirty="0"/>
          </a:p>
        </p:txBody>
      </p:sp>
      <p:sp>
        <p:nvSpPr>
          <p:cNvPr id="21" name="Shape 303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2" name="Icon FaDatabase 304" descr="Databas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4732020"/>
            <a:ext cx="228600" cy="228600"/>
          </a:xfrm>
          <a:prstGeom prst="rect">
            <a:avLst/>
          </a:prstGeom>
        </p:spPr>
      </p:pic>
      <p:sp>
        <p:nvSpPr>
          <p:cNvPr id="23" name="Text 305"/>
          <p:cNvSpPr txBox="1"/>
          <p:nvPr/>
        </p:nvSpPr>
        <p:spPr>
          <a:xfrm>
            <a:off x="1463040" y="45720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Database</a:t>
            </a:r>
            <a:endParaRPr lang="en-US" sz="1300" dirty="0"/>
          </a:p>
        </p:txBody>
      </p:sp>
      <p:sp>
        <p:nvSpPr>
          <p:cNvPr id="24" name="Text 306"/>
          <p:cNvSpPr txBox="1"/>
          <p:nvPr/>
        </p:nvSpPr>
        <p:spPr>
          <a:xfrm>
            <a:off x="2880360" y="4572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MongoDB</a:t>
            </a:r>
            <a:endParaRPr lang="en-US" sz="1300" dirty="0"/>
          </a:p>
        </p:txBody>
      </p:sp>
      <p:sp>
        <p:nvSpPr>
          <p:cNvPr id="25" name="Shape 307"/>
          <p:cNvSpPr/>
          <p:nvPr/>
        </p:nvSpPr>
        <p:spPr>
          <a:xfrm>
            <a:off x="822960" y="525780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6" name="Icon FaPuzzlePiece 308" descr="PuzzlePiece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" y="5372100"/>
            <a:ext cx="228600" cy="228600"/>
          </a:xfrm>
          <a:prstGeom prst="rect">
            <a:avLst/>
          </a:prstGeom>
        </p:spPr>
      </p:pic>
      <p:sp>
        <p:nvSpPr>
          <p:cNvPr id="27" name="Text 309"/>
          <p:cNvSpPr txBox="1"/>
          <p:nvPr/>
        </p:nvSpPr>
        <p:spPr>
          <a:xfrm>
            <a:off x="1463040" y="5212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Libraries</a:t>
            </a:r>
            <a:endParaRPr lang="en-US" sz="1300" dirty="0"/>
          </a:p>
        </p:txBody>
      </p:sp>
      <p:sp>
        <p:nvSpPr>
          <p:cNvPr id="28" name="Text 310"/>
          <p:cNvSpPr txBox="1"/>
          <p:nvPr/>
        </p:nvSpPr>
        <p:spPr>
          <a:xfrm>
            <a:off x="2880360" y="5212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React.js, Express.js, Socket.IO, SimplePeer, Monaco Editor, jsPDF, html2canvas</a:t>
            </a:r>
            <a:endParaRPr lang="en-US" sz="1100" dirty="0"/>
          </a:p>
        </p:txBody>
      </p:sp>
      <p:sp>
        <p:nvSpPr>
          <p:cNvPr id="29" name="Shape 311"/>
          <p:cNvSpPr/>
          <p:nvPr/>
        </p:nvSpPr>
        <p:spPr>
          <a:xfrm>
            <a:off x="6199632" y="1325880"/>
            <a:ext cx="5440680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30" name="Text 312"/>
          <p:cNvSpPr txBox="1"/>
          <p:nvPr/>
        </p:nvSpPr>
        <p:spPr>
          <a:xfrm>
            <a:off x="6473952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Hardware Requirements</a:t>
            </a:r>
            <a:endParaRPr lang="en-US" sz="1800" dirty="0"/>
          </a:p>
        </p:txBody>
      </p:sp>
      <p:sp>
        <p:nvSpPr>
          <p:cNvPr id="31" name="Shape 313"/>
          <p:cNvSpPr/>
          <p:nvPr/>
        </p:nvSpPr>
        <p:spPr>
          <a:xfrm>
            <a:off x="6473952" y="205740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2" name="Icon FaMicrochip 314" descr="Microchip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8252" y="2171700"/>
            <a:ext cx="228600" cy="228600"/>
          </a:xfrm>
          <a:prstGeom prst="rect">
            <a:avLst/>
          </a:prstGeom>
        </p:spPr>
      </p:pic>
      <p:sp>
        <p:nvSpPr>
          <p:cNvPr id="33" name="Text 315"/>
          <p:cNvSpPr txBox="1"/>
          <p:nvPr/>
        </p:nvSpPr>
        <p:spPr>
          <a:xfrm>
            <a:off x="7114032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Processor</a:t>
            </a:r>
            <a:endParaRPr lang="en-US" sz="1300" dirty="0"/>
          </a:p>
        </p:txBody>
      </p:sp>
      <p:sp>
        <p:nvSpPr>
          <p:cNvPr id="34" name="Text 316"/>
          <p:cNvSpPr txBox="1"/>
          <p:nvPr/>
        </p:nvSpPr>
        <p:spPr>
          <a:xfrm>
            <a:off x="8531352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Intel Core i5 or equivalent</a:t>
            </a:r>
            <a:endParaRPr lang="en-US" sz="1300" dirty="0"/>
          </a:p>
        </p:txBody>
      </p:sp>
      <p:sp>
        <p:nvSpPr>
          <p:cNvPr id="35" name="Shape 317"/>
          <p:cNvSpPr/>
          <p:nvPr/>
        </p:nvSpPr>
        <p:spPr>
          <a:xfrm>
            <a:off x="6473952" y="269748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6" name="Icon FaMemory 318" descr="Memory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8252" y="2811780"/>
            <a:ext cx="228600" cy="228600"/>
          </a:xfrm>
          <a:prstGeom prst="rect">
            <a:avLst/>
          </a:prstGeom>
        </p:spPr>
      </p:pic>
      <p:sp>
        <p:nvSpPr>
          <p:cNvPr id="37" name="Text 319"/>
          <p:cNvSpPr txBox="1"/>
          <p:nvPr/>
        </p:nvSpPr>
        <p:spPr>
          <a:xfrm>
            <a:off x="7114032" y="26517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RAM</a:t>
            </a:r>
            <a:endParaRPr lang="en-US" sz="1300" dirty="0"/>
          </a:p>
        </p:txBody>
      </p:sp>
      <p:sp>
        <p:nvSpPr>
          <p:cNvPr id="38" name="Text 320"/>
          <p:cNvSpPr txBox="1"/>
          <p:nvPr/>
        </p:nvSpPr>
        <p:spPr>
          <a:xfrm>
            <a:off x="8531352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8 GB recommended</a:t>
            </a:r>
            <a:endParaRPr lang="en-US" sz="1300" dirty="0"/>
          </a:p>
        </p:txBody>
      </p:sp>
      <p:sp>
        <p:nvSpPr>
          <p:cNvPr id="39" name="Shape 321"/>
          <p:cNvSpPr/>
          <p:nvPr/>
        </p:nvSpPr>
        <p:spPr>
          <a:xfrm>
            <a:off x="6473952" y="333756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0" name="Icon FaHdd 322" descr="Hdd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8252" y="3451860"/>
            <a:ext cx="228600" cy="228600"/>
          </a:xfrm>
          <a:prstGeom prst="rect">
            <a:avLst/>
          </a:prstGeom>
        </p:spPr>
      </p:pic>
      <p:sp>
        <p:nvSpPr>
          <p:cNvPr id="41" name="Text 323"/>
          <p:cNvSpPr txBox="1"/>
          <p:nvPr/>
        </p:nvSpPr>
        <p:spPr>
          <a:xfrm>
            <a:off x="7114032" y="3291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Storage</a:t>
            </a:r>
            <a:endParaRPr lang="en-US" sz="1300" dirty="0"/>
          </a:p>
        </p:txBody>
      </p:sp>
      <p:sp>
        <p:nvSpPr>
          <p:cNvPr id="42" name="Text 324"/>
          <p:cNvSpPr txBox="1"/>
          <p:nvPr/>
        </p:nvSpPr>
        <p:spPr>
          <a:xfrm>
            <a:off x="8531352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SSD with sufficient free space</a:t>
            </a:r>
            <a:endParaRPr lang="en-US" sz="1300" dirty="0"/>
          </a:p>
        </p:txBody>
      </p:sp>
      <p:sp>
        <p:nvSpPr>
          <p:cNvPr id="43" name="Shape 325"/>
          <p:cNvSpPr/>
          <p:nvPr/>
        </p:nvSpPr>
        <p:spPr>
          <a:xfrm>
            <a:off x="6473952" y="397764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4" name="Icon FaCamera 326" descr="Camera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8252" y="4091940"/>
            <a:ext cx="228600" cy="228600"/>
          </a:xfrm>
          <a:prstGeom prst="rect">
            <a:avLst/>
          </a:prstGeom>
        </p:spPr>
      </p:pic>
      <p:sp>
        <p:nvSpPr>
          <p:cNvPr id="45" name="Text 327"/>
          <p:cNvSpPr txBox="1"/>
          <p:nvPr/>
        </p:nvSpPr>
        <p:spPr>
          <a:xfrm>
            <a:off x="7114032" y="39319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Camera</a:t>
            </a:r>
            <a:endParaRPr lang="en-US" sz="1300" dirty="0"/>
          </a:p>
        </p:txBody>
      </p:sp>
      <p:sp>
        <p:nvSpPr>
          <p:cNvPr id="46" name="Text 328"/>
          <p:cNvSpPr txBox="1"/>
          <p:nvPr/>
        </p:nvSpPr>
        <p:spPr>
          <a:xfrm>
            <a:off x="8531352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Built-in or external webcam</a:t>
            </a:r>
            <a:endParaRPr lang="en-US" sz="1300" dirty="0"/>
          </a:p>
        </p:txBody>
      </p:sp>
      <p:sp>
        <p:nvSpPr>
          <p:cNvPr id="47" name="Shape 329"/>
          <p:cNvSpPr/>
          <p:nvPr/>
        </p:nvSpPr>
        <p:spPr>
          <a:xfrm>
            <a:off x="6473952" y="461772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8" name="Icon FaMicrophone 330" descr="Microphone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8252" y="4732020"/>
            <a:ext cx="228600" cy="228600"/>
          </a:xfrm>
          <a:prstGeom prst="rect">
            <a:avLst/>
          </a:prstGeom>
        </p:spPr>
      </p:pic>
      <p:sp>
        <p:nvSpPr>
          <p:cNvPr id="49" name="Text 331"/>
          <p:cNvSpPr txBox="1"/>
          <p:nvPr/>
        </p:nvSpPr>
        <p:spPr>
          <a:xfrm>
            <a:off x="7114032" y="45720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Microphone</a:t>
            </a:r>
            <a:endParaRPr lang="en-US" sz="1300" dirty="0"/>
          </a:p>
        </p:txBody>
      </p:sp>
      <p:sp>
        <p:nvSpPr>
          <p:cNvPr id="50" name="Text 332"/>
          <p:cNvSpPr txBox="1"/>
          <p:nvPr/>
        </p:nvSpPr>
        <p:spPr>
          <a:xfrm>
            <a:off x="8531352" y="4572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Built-in or headset microphone</a:t>
            </a:r>
            <a:endParaRPr lang="en-US" sz="1300" dirty="0"/>
          </a:p>
        </p:txBody>
      </p:sp>
      <p:sp>
        <p:nvSpPr>
          <p:cNvPr id="51" name="Shape 333"/>
          <p:cNvSpPr/>
          <p:nvPr/>
        </p:nvSpPr>
        <p:spPr>
          <a:xfrm>
            <a:off x="6473952" y="525780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52" name="Icon FaWifi 334" descr="Wifi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8252" y="5372100"/>
            <a:ext cx="228600" cy="228600"/>
          </a:xfrm>
          <a:prstGeom prst="rect">
            <a:avLst/>
          </a:prstGeom>
        </p:spPr>
      </p:pic>
      <p:sp>
        <p:nvSpPr>
          <p:cNvPr id="53" name="Text 335"/>
          <p:cNvSpPr txBox="1"/>
          <p:nvPr/>
        </p:nvSpPr>
        <p:spPr>
          <a:xfrm>
            <a:off x="7114032" y="5212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Internet</a:t>
            </a:r>
            <a:endParaRPr lang="en-US" sz="1300" dirty="0"/>
          </a:p>
        </p:txBody>
      </p:sp>
      <p:sp>
        <p:nvSpPr>
          <p:cNvPr id="54" name="Text 336"/>
          <p:cNvSpPr txBox="1"/>
          <p:nvPr/>
        </p:nvSpPr>
        <p:spPr>
          <a:xfrm>
            <a:off x="8531352" y="5212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Stable broadband connection</a:t>
            </a:r>
            <a:endParaRPr lang="en-US" sz="1300" dirty="0"/>
          </a:p>
        </p:txBody>
      </p:sp>
      <p:sp>
        <p:nvSpPr>
          <p:cNvPr id="55" name="Text 337"/>
          <p:cNvSpPr txBox="1"/>
          <p:nvPr/>
        </p:nvSpPr>
        <p:spPr>
          <a:xfrm>
            <a:off x="548640" y="60167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Recommended configuration for development and use; these are not measured specifications.</a:t>
            </a:r>
            <a:endParaRPr lang="en-US" sz="120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Shape 338"/>
          <p:cNvSpPr/>
          <p:nvPr/>
        </p:nvSpPr>
        <p:spPr>
          <a:xfrm>
            <a:off x="548640" y="1280160"/>
            <a:ext cx="75895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9525">
            <a:solidFill>
              <a:srgbClr val="D5DFEF"/>
            </a:solidFill>
            <a:prstDash val="solid"/>
          </a:ln>
        </p:spPr>
      </p:sp>
      <p:sp>
        <p:nvSpPr>
          <p:cNvPr id="4" name="Shape 339"/>
          <p:cNvSpPr/>
          <p:nvPr/>
        </p:nvSpPr>
        <p:spPr>
          <a:xfrm>
            <a:off x="548640" y="1280160"/>
            <a:ext cx="16916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5" name="Text 340"/>
          <p:cNvSpPr txBox="1"/>
          <p:nvPr/>
        </p:nvSpPr>
        <p:spPr>
          <a:xfrm>
            <a:off x="640080" y="12801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User Interaction</a:t>
            </a:r>
            <a:endParaRPr lang="en-US" sz="1200" dirty="0"/>
          </a:p>
        </p:txBody>
      </p:sp>
      <p:sp>
        <p:nvSpPr>
          <p:cNvPr id="6" name="Shape 341"/>
          <p:cNvSpPr/>
          <p:nvPr/>
        </p:nvSpPr>
        <p:spPr>
          <a:xfrm>
            <a:off x="2377440" y="1417320"/>
            <a:ext cx="2743200" cy="59436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7" name="Icon 342" descr="FaUserTi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1577340"/>
            <a:ext cx="274320" cy="274320"/>
          </a:xfrm>
          <a:prstGeom prst="rect">
            <a:avLst/>
          </a:prstGeom>
        </p:spPr>
      </p:pic>
      <p:sp>
        <p:nvSpPr>
          <p:cNvPr id="8" name="Text 343"/>
          <p:cNvSpPr txBox="1"/>
          <p:nvPr/>
        </p:nvSpPr>
        <p:spPr>
          <a:xfrm>
            <a:off x="2852928" y="14173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Interviewer</a:t>
            </a:r>
            <a:endParaRPr lang="en-US" sz="1200" dirty="0"/>
          </a:p>
        </p:txBody>
      </p:sp>
      <p:sp>
        <p:nvSpPr>
          <p:cNvPr id="9" name="Shape 344"/>
          <p:cNvSpPr/>
          <p:nvPr/>
        </p:nvSpPr>
        <p:spPr>
          <a:xfrm>
            <a:off x="5257800" y="1417320"/>
            <a:ext cx="2743200" cy="59436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10" name="Icon 345" descr="FaUs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1577340"/>
            <a:ext cx="274320" cy="274320"/>
          </a:xfrm>
          <a:prstGeom prst="rect">
            <a:avLst/>
          </a:prstGeom>
        </p:spPr>
      </p:pic>
      <p:sp>
        <p:nvSpPr>
          <p:cNvPr id="11" name="Text 346"/>
          <p:cNvSpPr txBox="1"/>
          <p:nvPr/>
        </p:nvSpPr>
        <p:spPr>
          <a:xfrm>
            <a:off x="5733288" y="14173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Candidate</a:t>
            </a:r>
            <a:endParaRPr lang="en-US" sz="1200" dirty="0"/>
          </a:p>
        </p:txBody>
      </p:sp>
      <p:sp>
        <p:nvSpPr>
          <p:cNvPr id="12" name="Connector 347"/>
          <p:cNvSpPr/>
          <p:nvPr/>
        </p:nvSpPr>
        <p:spPr>
          <a:xfrm>
            <a:off x="4343400" y="2176272"/>
            <a:ext cx="0" cy="26517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13" name="Shape 348"/>
          <p:cNvSpPr/>
          <p:nvPr/>
        </p:nvSpPr>
        <p:spPr>
          <a:xfrm>
            <a:off x="548640" y="2468880"/>
            <a:ext cx="75895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rgbClr val="D5DFEF"/>
            </a:solidFill>
            <a:prstDash val="solid"/>
          </a:ln>
        </p:spPr>
      </p:sp>
      <p:sp>
        <p:nvSpPr>
          <p:cNvPr id="14" name="Shape 349"/>
          <p:cNvSpPr/>
          <p:nvPr/>
        </p:nvSpPr>
        <p:spPr>
          <a:xfrm>
            <a:off x="548640" y="2468880"/>
            <a:ext cx="16916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</p:spPr>
      </p:sp>
      <p:sp>
        <p:nvSpPr>
          <p:cNvPr id="15" name="Text 350"/>
          <p:cNvSpPr txBox="1"/>
          <p:nvPr/>
        </p:nvSpPr>
        <p:spPr>
          <a:xfrm>
            <a:off x="640080" y="246888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Application Layer (Frontend)</a:t>
            </a:r>
            <a:endParaRPr lang="en-US" sz="1200" dirty="0"/>
          </a:p>
        </p:txBody>
      </p:sp>
      <p:sp>
        <p:nvSpPr>
          <p:cNvPr id="16" name="Shape 351"/>
          <p:cNvSpPr/>
          <p:nvPr/>
        </p:nvSpPr>
        <p:spPr>
          <a:xfrm>
            <a:off x="2377440" y="2606040"/>
            <a:ext cx="178308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17" name="Icon 352" descr="FaReac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168" y="2903220"/>
            <a:ext cx="274320" cy="274320"/>
          </a:xfrm>
          <a:prstGeom prst="rect">
            <a:avLst/>
          </a:prstGeom>
        </p:spPr>
      </p:pic>
      <p:sp>
        <p:nvSpPr>
          <p:cNvPr id="18" name="Text 353"/>
          <p:cNvSpPr txBox="1"/>
          <p:nvPr/>
        </p:nvSpPr>
        <p:spPr>
          <a:xfrm>
            <a:off x="2852928" y="260604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React.js + Vite UI</a:t>
            </a:r>
            <a:endParaRPr lang="en-US" sz="1200" dirty="0"/>
          </a:p>
        </p:txBody>
      </p:sp>
      <p:sp>
        <p:nvSpPr>
          <p:cNvPr id="19" name="Shape 354"/>
          <p:cNvSpPr/>
          <p:nvPr/>
        </p:nvSpPr>
        <p:spPr>
          <a:xfrm>
            <a:off x="4297680" y="2606040"/>
            <a:ext cx="178308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20" name="Icon 355" descr="FaCod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7408" y="2903220"/>
            <a:ext cx="274320" cy="274320"/>
          </a:xfrm>
          <a:prstGeom prst="rect">
            <a:avLst/>
          </a:prstGeom>
        </p:spPr>
      </p:pic>
      <p:sp>
        <p:nvSpPr>
          <p:cNvPr id="21" name="Text 356"/>
          <p:cNvSpPr txBox="1"/>
          <p:nvPr/>
        </p:nvSpPr>
        <p:spPr>
          <a:xfrm>
            <a:off x="4773168" y="260604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Monaco Editor</a:t>
            </a:r>
            <a:endParaRPr lang="en-US" sz="1200" dirty="0"/>
          </a:p>
        </p:txBody>
      </p:sp>
      <p:sp>
        <p:nvSpPr>
          <p:cNvPr id="22" name="Shape 357"/>
          <p:cNvSpPr/>
          <p:nvPr/>
        </p:nvSpPr>
        <p:spPr>
          <a:xfrm>
            <a:off x="6217920" y="2606040"/>
            <a:ext cx="178308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23" name="Icon 358" descr="FaDeskto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2903220"/>
            <a:ext cx="274320" cy="274320"/>
          </a:xfrm>
          <a:prstGeom prst="rect">
            <a:avLst/>
          </a:prstGeom>
        </p:spPr>
      </p:pic>
      <p:sp>
        <p:nvSpPr>
          <p:cNvPr id="24" name="Text 359"/>
          <p:cNvSpPr txBox="1"/>
          <p:nvPr/>
        </p:nvSpPr>
        <p:spPr>
          <a:xfrm>
            <a:off x="6693408" y="260604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Dashboard &amp; Interview Room</a:t>
            </a:r>
            <a:endParaRPr lang="en-US" sz="1200" dirty="0"/>
          </a:p>
        </p:txBody>
      </p:sp>
      <p:sp>
        <p:nvSpPr>
          <p:cNvPr id="25" name="Connector 360"/>
          <p:cNvSpPr/>
          <p:nvPr/>
        </p:nvSpPr>
        <p:spPr>
          <a:xfrm>
            <a:off x="4343400" y="3639312"/>
            <a:ext cx="0" cy="26517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26" name="Shape 361"/>
          <p:cNvSpPr/>
          <p:nvPr/>
        </p:nvSpPr>
        <p:spPr>
          <a:xfrm>
            <a:off x="548640" y="3931920"/>
            <a:ext cx="75895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rgbClr val="D5DFEF"/>
            </a:solidFill>
            <a:prstDash val="solid"/>
          </a:ln>
        </p:spPr>
      </p:sp>
      <p:sp>
        <p:nvSpPr>
          <p:cNvPr id="27" name="Shape 362"/>
          <p:cNvSpPr/>
          <p:nvPr/>
        </p:nvSpPr>
        <p:spPr>
          <a:xfrm>
            <a:off x="548640" y="3931920"/>
            <a:ext cx="16916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</p:spPr>
      </p:sp>
      <p:sp>
        <p:nvSpPr>
          <p:cNvPr id="28" name="Text 363"/>
          <p:cNvSpPr txBox="1"/>
          <p:nvPr/>
        </p:nvSpPr>
        <p:spPr>
          <a:xfrm>
            <a:off x="640080" y="3931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Business Logic (Backend)</a:t>
            </a:r>
            <a:endParaRPr lang="en-US" sz="1200" dirty="0"/>
          </a:p>
        </p:txBody>
      </p:sp>
      <p:sp>
        <p:nvSpPr>
          <p:cNvPr id="29" name="Shape 364"/>
          <p:cNvSpPr/>
          <p:nvPr/>
        </p:nvSpPr>
        <p:spPr>
          <a:xfrm>
            <a:off x="2377440" y="4069080"/>
            <a:ext cx="178308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30" name="Icon 365" descr="FaNodeJ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7168" y="4366260"/>
            <a:ext cx="274320" cy="274320"/>
          </a:xfrm>
          <a:prstGeom prst="rect">
            <a:avLst/>
          </a:prstGeom>
        </p:spPr>
      </p:pic>
      <p:sp>
        <p:nvSpPr>
          <p:cNvPr id="31" name="Text 366"/>
          <p:cNvSpPr txBox="1"/>
          <p:nvPr/>
        </p:nvSpPr>
        <p:spPr>
          <a:xfrm>
            <a:off x="2852928" y="40690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Node.js + Express.js</a:t>
            </a:r>
            <a:endParaRPr lang="en-US" sz="1200" dirty="0"/>
          </a:p>
        </p:txBody>
      </p:sp>
      <p:sp>
        <p:nvSpPr>
          <p:cNvPr id="32" name="Shape 367"/>
          <p:cNvSpPr/>
          <p:nvPr/>
        </p:nvSpPr>
        <p:spPr>
          <a:xfrm>
            <a:off x="4297680" y="4069080"/>
            <a:ext cx="178308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33" name="Icon 368" descr="FaKey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7408" y="4366260"/>
            <a:ext cx="274320" cy="274320"/>
          </a:xfrm>
          <a:prstGeom prst="rect">
            <a:avLst/>
          </a:prstGeom>
        </p:spPr>
      </p:pic>
      <p:sp>
        <p:nvSpPr>
          <p:cNvPr id="34" name="Text 369"/>
          <p:cNvSpPr txBox="1"/>
          <p:nvPr/>
        </p:nvSpPr>
        <p:spPr>
          <a:xfrm>
            <a:off x="4773168" y="40690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REST APIs &amp; JWT Auth</a:t>
            </a:r>
            <a:endParaRPr lang="en-US" sz="1200" dirty="0"/>
          </a:p>
        </p:txBody>
      </p:sp>
      <p:sp>
        <p:nvSpPr>
          <p:cNvPr id="35" name="Shape 370"/>
          <p:cNvSpPr/>
          <p:nvPr/>
        </p:nvSpPr>
        <p:spPr>
          <a:xfrm>
            <a:off x="6217920" y="4069080"/>
            <a:ext cx="178308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36" name="Icon 371" descr="FaCog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7648" y="4366260"/>
            <a:ext cx="274320" cy="274320"/>
          </a:xfrm>
          <a:prstGeom prst="rect">
            <a:avLst/>
          </a:prstGeom>
        </p:spPr>
      </p:pic>
      <p:sp>
        <p:nvSpPr>
          <p:cNvPr id="37" name="Text 372"/>
          <p:cNvSpPr txBox="1"/>
          <p:nvPr/>
        </p:nvSpPr>
        <p:spPr>
          <a:xfrm>
            <a:off x="6693408" y="40690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Interview &amp; Session Management</a:t>
            </a:r>
            <a:endParaRPr lang="en-US" sz="1200" dirty="0"/>
          </a:p>
        </p:txBody>
      </p:sp>
      <p:sp>
        <p:nvSpPr>
          <p:cNvPr id="38" name="Connector 373"/>
          <p:cNvSpPr/>
          <p:nvPr/>
        </p:nvSpPr>
        <p:spPr>
          <a:xfrm>
            <a:off x="4343400" y="5102352"/>
            <a:ext cx="0" cy="26517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39" name="Shape 374"/>
          <p:cNvSpPr/>
          <p:nvPr/>
        </p:nvSpPr>
        <p:spPr>
          <a:xfrm>
            <a:off x="548640" y="5394960"/>
            <a:ext cx="75895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9525">
            <a:solidFill>
              <a:srgbClr val="D5DFEF"/>
            </a:solidFill>
            <a:prstDash val="solid"/>
          </a:ln>
        </p:spPr>
      </p:sp>
      <p:sp>
        <p:nvSpPr>
          <p:cNvPr id="40" name="Shape 375"/>
          <p:cNvSpPr/>
          <p:nvPr/>
        </p:nvSpPr>
        <p:spPr>
          <a:xfrm>
            <a:off x="548640" y="5394960"/>
            <a:ext cx="169164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41" name="Text 376"/>
          <p:cNvSpPr txBox="1"/>
          <p:nvPr/>
        </p:nvSpPr>
        <p:spPr>
          <a:xfrm>
            <a:off x="640080" y="53949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Database Layer</a:t>
            </a:r>
            <a:endParaRPr lang="en-US" sz="1200" dirty="0"/>
          </a:p>
        </p:txBody>
      </p:sp>
      <p:sp>
        <p:nvSpPr>
          <p:cNvPr id="42" name="Shape 377"/>
          <p:cNvSpPr/>
          <p:nvPr/>
        </p:nvSpPr>
        <p:spPr>
          <a:xfrm>
            <a:off x="2377440" y="5532120"/>
            <a:ext cx="562356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43" name="Icon 378" descr="FaDataba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87168" y="5646420"/>
            <a:ext cx="274320" cy="274320"/>
          </a:xfrm>
          <a:prstGeom prst="rect">
            <a:avLst/>
          </a:prstGeom>
        </p:spPr>
      </p:pic>
      <p:sp>
        <p:nvSpPr>
          <p:cNvPr id="44" name="Text 379"/>
          <p:cNvSpPr txBox="1"/>
          <p:nvPr/>
        </p:nvSpPr>
        <p:spPr>
          <a:xfrm>
            <a:off x="2852928" y="55321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MongoDB: users, interviews, questions, evaluations, logs</a:t>
            </a:r>
            <a:endParaRPr lang="en-US" sz="1200" dirty="0"/>
          </a:p>
        </p:txBody>
      </p:sp>
      <p:sp>
        <p:nvSpPr>
          <p:cNvPr id="45" name="Shape 380"/>
          <p:cNvSpPr/>
          <p:nvPr/>
        </p:nvSpPr>
        <p:spPr>
          <a:xfrm>
            <a:off x="8503920" y="1280160"/>
            <a:ext cx="3136392" cy="4892040"/>
          </a:xfrm>
          <a:prstGeom prst="roundRect">
            <a:avLst>
              <a:gd name="adj" fmla="val 349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46" name="Text 381"/>
          <p:cNvSpPr txBox="1"/>
          <p:nvPr/>
        </p:nvSpPr>
        <p:spPr>
          <a:xfrm>
            <a:off x="8641080" y="13716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External Services &amp; Integrations</a:t>
            </a:r>
            <a:endParaRPr lang="en-US" sz="1400" dirty="0"/>
          </a:p>
        </p:txBody>
      </p:sp>
      <p:sp>
        <p:nvSpPr>
          <p:cNvPr id="47" name="Shape 382"/>
          <p:cNvSpPr/>
          <p:nvPr/>
        </p:nvSpPr>
        <p:spPr>
          <a:xfrm>
            <a:off x="8641080" y="1920240"/>
            <a:ext cx="2862072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48" name="Icon 383" descr="Socket.I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59952" y="2148840"/>
            <a:ext cx="274320" cy="274320"/>
          </a:xfrm>
          <a:prstGeom prst="rect">
            <a:avLst/>
          </a:prstGeom>
        </p:spPr>
      </p:pic>
      <p:sp>
        <p:nvSpPr>
          <p:cNvPr id="49" name="Text 384"/>
          <p:cNvSpPr txBox="1"/>
          <p:nvPr/>
        </p:nvSpPr>
        <p:spPr>
          <a:xfrm>
            <a:off x="914400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Socket.IO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Real-time code sync</a:t>
            </a:r>
            <a:endParaRPr lang="en-US" sz="1200" dirty="0"/>
          </a:p>
        </p:txBody>
      </p:sp>
      <p:sp>
        <p:nvSpPr>
          <p:cNvPr id="50" name="Shape 385"/>
          <p:cNvSpPr/>
          <p:nvPr/>
        </p:nvSpPr>
        <p:spPr>
          <a:xfrm>
            <a:off x="8641080" y="2761488"/>
            <a:ext cx="2862072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51" name="Icon 386" descr="WebRTC / SimplePe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59952" y="2990088"/>
            <a:ext cx="274320" cy="274320"/>
          </a:xfrm>
          <a:prstGeom prst="rect">
            <a:avLst/>
          </a:prstGeom>
        </p:spPr>
      </p:pic>
      <p:sp>
        <p:nvSpPr>
          <p:cNvPr id="52" name="Text 387"/>
          <p:cNvSpPr txBox="1"/>
          <p:nvPr/>
        </p:nvSpPr>
        <p:spPr>
          <a:xfrm>
            <a:off x="9144000" y="27614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WebRTC / SimplePeer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Video &amp; audio</a:t>
            </a:r>
            <a:endParaRPr lang="en-US" sz="1200" dirty="0"/>
          </a:p>
        </p:txBody>
      </p:sp>
      <p:sp>
        <p:nvSpPr>
          <p:cNvPr id="53" name="Shape 388"/>
          <p:cNvSpPr/>
          <p:nvPr/>
        </p:nvSpPr>
        <p:spPr>
          <a:xfrm>
            <a:off x="8641080" y="3602736"/>
            <a:ext cx="2862072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54" name="Icon 389" descr="Groq API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59952" y="3831336"/>
            <a:ext cx="274320" cy="274320"/>
          </a:xfrm>
          <a:prstGeom prst="rect">
            <a:avLst/>
          </a:prstGeom>
        </p:spPr>
      </p:pic>
      <p:sp>
        <p:nvSpPr>
          <p:cNvPr id="55" name="Text 390"/>
          <p:cNvSpPr txBox="1"/>
          <p:nvPr/>
        </p:nvSpPr>
        <p:spPr>
          <a:xfrm>
            <a:off x="9144000" y="360273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Groq API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AI code evaluation</a:t>
            </a:r>
            <a:endParaRPr lang="en-US" sz="1200" dirty="0"/>
          </a:p>
        </p:txBody>
      </p:sp>
      <p:sp>
        <p:nvSpPr>
          <p:cNvPr id="56" name="Shape 391"/>
          <p:cNvSpPr/>
          <p:nvPr/>
        </p:nvSpPr>
        <p:spPr>
          <a:xfrm>
            <a:off x="8641080" y="4443984"/>
            <a:ext cx="2862072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57" name="Icon 392" descr="Code Execu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9952" y="4672584"/>
            <a:ext cx="274320" cy="274320"/>
          </a:xfrm>
          <a:prstGeom prst="rect">
            <a:avLst/>
          </a:prstGeom>
        </p:spPr>
      </p:pic>
      <p:sp>
        <p:nvSpPr>
          <p:cNvPr id="58" name="Text 393"/>
          <p:cNvSpPr txBox="1"/>
          <p:nvPr/>
        </p:nvSpPr>
        <p:spPr>
          <a:xfrm>
            <a:off x="9144000" y="444398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Code Execution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Runs submitted code</a:t>
            </a:r>
            <a:endParaRPr lang="en-US" sz="1200" dirty="0"/>
          </a:p>
        </p:txBody>
      </p:sp>
      <p:sp>
        <p:nvSpPr>
          <p:cNvPr id="59" name="Shape 394"/>
          <p:cNvSpPr/>
          <p:nvPr/>
        </p:nvSpPr>
        <p:spPr>
          <a:xfrm>
            <a:off x="8641080" y="5285232"/>
            <a:ext cx="2862072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60" name="Icon 395" descr="PDF Report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59952" y="5513832"/>
            <a:ext cx="274320" cy="274320"/>
          </a:xfrm>
          <a:prstGeom prst="rect">
            <a:avLst/>
          </a:prstGeom>
        </p:spPr>
      </p:pic>
      <p:sp>
        <p:nvSpPr>
          <p:cNvPr id="61" name="Text 396"/>
          <p:cNvSpPr txBox="1"/>
          <p:nvPr/>
        </p:nvSpPr>
        <p:spPr>
          <a:xfrm>
            <a:off x="9144000" y="52852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PDF Report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jsPDF + html2canvas</a:t>
            </a:r>
            <a:endParaRPr lang="en-US" sz="1200" dirty="0"/>
          </a:p>
        </p:txBody>
      </p:sp>
      <p:sp>
        <p:nvSpPr>
          <p:cNvPr id="62" name="Connector 397"/>
          <p:cNvSpPr/>
          <p:nvPr/>
        </p:nvSpPr>
        <p:spPr>
          <a:xfrm>
            <a:off x="8165592" y="3035808"/>
            <a:ext cx="31089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63" name="Connector 398"/>
          <p:cNvSpPr/>
          <p:nvPr/>
        </p:nvSpPr>
        <p:spPr>
          <a:xfrm>
            <a:off x="8165592" y="4498848"/>
            <a:ext cx="31089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Design Diagrams</a:t>
            </a:r>
            <a:endParaRPr lang="en-US" sz="3200" dirty="0"/>
          </a:p>
        </p:txBody>
      </p:sp>
      <p:sp>
        <p:nvSpPr>
          <p:cNvPr id="3" name="Shape 399"/>
          <p:cNvSpPr/>
          <p:nvPr/>
        </p:nvSpPr>
        <p:spPr>
          <a:xfrm>
            <a:off x="548640" y="1234440"/>
            <a:ext cx="3520440" cy="2423160"/>
          </a:xfrm>
          <a:prstGeom prst="roundRect">
            <a:avLst>
              <a:gd name="adj" fmla="val 4528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4" name="Diagram DFD (Level 0)" descr="Diagram DFD (Level 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7328"/>
            <a:ext cx="3337560" cy="844777"/>
          </a:xfrm>
          <a:prstGeom prst="rect">
            <a:avLst/>
          </a:prstGeom>
        </p:spPr>
      </p:pic>
      <p:sp>
        <p:nvSpPr>
          <p:cNvPr id="5" name="Text 400"/>
          <p:cNvSpPr txBox="1"/>
          <p:nvPr/>
        </p:nvSpPr>
        <p:spPr>
          <a:xfrm>
            <a:off x="548640" y="33375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DFD (Level 0)</a:t>
            </a:r>
            <a:endParaRPr lang="en-US" sz="1300" dirty="0"/>
          </a:p>
        </p:txBody>
      </p:sp>
      <p:sp>
        <p:nvSpPr>
          <p:cNvPr id="6" name="Shape 401"/>
          <p:cNvSpPr/>
          <p:nvPr/>
        </p:nvSpPr>
        <p:spPr>
          <a:xfrm>
            <a:off x="4334256" y="1234440"/>
            <a:ext cx="3520440" cy="2423160"/>
          </a:xfrm>
          <a:prstGeom prst="roundRect">
            <a:avLst>
              <a:gd name="adj" fmla="val 4528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7" name="Diagram Use Case Diagram" descr="Diagram Use Case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5388" y="1307592"/>
            <a:ext cx="2078177" cy="1984248"/>
          </a:xfrm>
          <a:prstGeom prst="rect">
            <a:avLst/>
          </a:prstGeom>
        </p:spPr>
      </p:pic>
      <p:sp>
        <p:nvSpPr>
          <p:cNvPr id="8" name="Text 402"/>
          <p:cNvSpPr txBox="1"/>
          <p:nvPr/>
        </p:nvSpPr>
        <p:spPr>
          <a:xfrm>
            <a:off x="4334256" y="33375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Use Case Diagram</a:t>
            </a:r>
            <a:endParaRPr lang="en-US" sz="1300" dirty="0"/>
          </a:p>
        </p:txBody>
      </p:sp>
      <p:sp>
        <p:nvSpPr>
          <p:cNvPr id="9" name="Shape 403"/>
          <p:cNvSpPr/>
          <p:nvPr/>
        </p:nvSpPr>
        <p:spPr>
          <a:xfrm>
            <a:off x="8119872" y="1234440"/>
            <a:ext cx="3520440" cy="2423160"/>
          </a:xfrm>
          <a:prstGeom prst="roundRect">
            <a:avLst>
              <a:gd name="adj" fmla="val 4528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10" name="Diagram Class Diagram" descr="Diagram Class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9235" y="1307592"/>
            <a:ext cx="2621713" cy="1984248"/>
          </a:xfrm>
          <a:prstGeom prst="rect">
            <a:avLst/>
          </a:prstGeom>
        </p:spPr>
      </p:pic>
      <p:sp>
        <p:nvSpPr>
          <p:cNvPr id="11" name="Text 404"/>
          <p:cNvSpPr txBox="1"/>
          <p:nvPr/>
        </p:nvSpPr>
        <p:spPr>
          <a:xfrm>
            <a:off x="8119872" y="33375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Class Diagram</a:t>
            </a:r>
            <a:endParaRPr lang="en-US" sz="1300" dirty="0"/>
          </a:p>
        </p:txBody>
      </p:sp>
      <p:sp>
        <p:nvSpPr>
          <p:cNvPr id="12" name="Shape 405"/>
          <p:cNvSpPr/>
          <p:nvPr/>
        </p:nvSpPr>
        <p:spPr>
          <a:xfrm>
            <a:off x="548640" y="3794760"/>
            <a:ext cx="3520440" cy="2423160"/>
          </a:xfrm>
          <a:prstGeom prst="roundRect">
            <a:avLst>
              <a:gd name="adj" fmla="val 4528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13" name="Diagram State Diagram" descr="Diagram State Diagr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968329"/>
            <a:ext cx="3337560" cy="1783415"/>
          </a:xfrm>
          <a:prstGeom prst="rect">
            <a:avLst/>
          </a:prstGeom>
        </p:spPr>
      </p:pic>
      <p:sp>
        <p:nvSpPr>
          <p:cNvPr id="14" name="Text 406"/>
          <p:cNvSpPr txBox="1"/>
          <p:nvPr/>
        </p:nvSpPr>
        <p:spPr>
          <a:xfrm>
            <a:off x="548640" y="589788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State Diagram</a:t>
            </a:r>
            <a:endParaRPr lang="en-US" sz="1300" dirty="0"/>
          </a:p>
        </p:txBody>
      </p:sp>
      <p:sp>
        <p:nvSpPr>
          <p:cNvPr id="15" name="Shape 407"/>
          <p:cNvSpPr/>
          <p:nvPr/>
        </p:nvSpPr>
        <p:spPr>
          <a:xfrm>
            <a:off x="4334256" y="3794760"/>
            <a:ext cx="3520440" cy="2423160"/>
          </a:xfrm>
          <a:prstGeom prst="roundRect">
            <a:avLst>
              <a:gd name="adj" fmla="val 4528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16" name="Diagram Activity Diagram" descr="Diagram Activity Diagra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5687" y="3867912"/>
            <a:ext cx="2357578" cy="1984248"/>
          </a:xfrm>
          <a:prstGeom prst="rect">
            <a:avLst/>
          </a:prstGeom>
        </p:spPr>
      </p:pic>
      <p:sp>
        <p:nvSpPr>
          <p:cNvPr id="17" name="Text 408"/>
          <p:cNvSpPr txBox="1"/>
          <p:nvPr/>
        </p:nvSpPr>
        <p:spPr>
          <a:xfrm>
            <a:off x="4334256" y="589788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Activity Diagram</a:t>
            </a:r>
            <a:endParaRPr lang="en-US" sz="1300" dirty="0"/>
          </a:p>
        </p:txBody>
      </p:sp>
      <p:sp>
        <p:nvSpPr>
          <p:cNvPr id="18" name="Shape 409"/>
          <p:cNvSpPr/>
          <p:nvPr/>
        </p:nvSpPr>
        <p:spPr>
          <a:xfrm>
            <a:off x="8119872" y="3794760"/>
            <a:ext cx="3520440" cy="2423160"/>
          </a:xfrm>
          <a:prstGeom prst="roundRect">
            <a:avLst>
              <a:gd name="adj" fmla="val 4528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pic>
        <p:nvPicPr>
          <p:cNvPr id="19" name="Diagram Sequence Diagram" descr="Diagram Sequence Diagram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1199" y="3867912"/>
            <a:ext cx="2697786" cy="1984248"/>
          </a:xfrm>
          <a:prstGeom prst="rect">
            <a:avLst/>
          </a:prstGeom>
        </p:spPr>
      </p:pic>
      <p:sp>
        <p:nvSpPr>
          <p:cNvPr id="20" name="Text 410"/>
          <p:cNvSpPr txBox="1"/>
          <p:nvPr/>
        </p:nvSpPr>
        <p:spPr>
          <a:xfrm>
            <a:off x="8119872" y="589788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Sequence Diagram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Module Description</a:t>
            </a:r>
            <a:endParaRPr lang="en-US" sz="3200" dirty="0"/>
          </a:p>
        </p:txBody>
      </p:sp>
      <p:sp>
        <p:nvSpPr>
          <p:cNvPr id="3" name="Shape 411"/>
          <p:cNvSpPr/>
          <p:nvPr/>
        </p:nvSpPr>
        <p:spPr>
          <a:xfrm>
            <a:off x="548640" y="132588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4" name="Shape 412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5" name="Icon FaUsers 413" descr="User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714500"/>
            <a:ext cx="320040" cy="320040"/>
          </a:xfrm>
          <a:prstGeom prst="rect">
            <a:avLst/>
          </a:prstGeom>
        </p:spPr>
      </p:pic>
      <p:sp>
        <p:nvSpPr>
          <p:cNvPr id="6" name="Shape 414"/>
          <p:cNvSpPr/>
          <p:nvPr/>
        </p:nvSpPr>
        <p:spPr>
          <a:xfrm>
            <a:off x="3502152" y="15544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415"/>
          <p:cNvSpPr txBox="1"/>
          <p:nvPr/>
        </p:nvSpPr>
        <p:spPr>
          <a:xfrm>
            <a:off x="3502152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416"/>
          <p:cNvSpPr txBox="1"/>
          <p:nvPr/>
        </p:nvSpPr>
        <p:spPr>
          <a:xfrm>
            <a:off x="777240" y="23317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User Module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Registration, login and secure access for Interviewer and Candidate.</a:t>
            </a:r>
            <a:endParaRPr lang="en-US" sz="1600" dirty="0"/>
          </a:p>
        </p:txBody>
      </p:sp>
      <p:sp>
        <p:nvSpPr>
          <p:cNvPr id="9" name="Shape 417"/>
          <p:cNvSpPr/>
          <p:nvPr/>
        </p:nvSpPr>
        <p:spPr>
          <a:xfrm>
            <a:off x="4297680" y="132588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0" name="Shape 418"/>
          <p:cNvSpPr/>
          <p:nvPr/>
        </p:nvSpPr>
        <p:spPr>
          <a:xfrm>
            <a:off x="4526280" y="155448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1" name="Icon FaUserTie 419" descr="UserTi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714500"/>
            <a:ext cx="320040" cy="320040"/>
          </a:xfrm>
          <a:prstGeom prst="rect">
            <a:avLst/>
          </a:prstGeom>
        </p:spPr>
      </p:pic>
      <p:sp>
        <p:nvSpPr>
          <p:cNvPr id="12" name="Shape 420"/>
          <p:cNvSpPr/>
          <p:nvPr/>
        </p:nvSpPr>
        <p:spPr>
          <a:xfrm>
            <a:off x="7251192" y="15544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421"/>
          <p:cNvSpPr txBox="1"/>
          <p:nvPr/>
        </p:nvSpPr>
        <p:spPr>
          <a:xfrm>
            <a:off x="7251192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422"/>
          <p:cNvSpPr txBox="1"/>
          <p:nvPr/>
        </p:nvSpPr>
        <p:spPr>
          <a:xfrm>
            <a:off x="4526280" y="23317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Interviewer Module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Schedules interviews, manages questions, monitors and evaluates candidates.</a:t>
            </a:r>
            <a:endParaRPr lang="en-US" sz="1600" dirty="0"/>
          </a:p>
        </p:txBody>
      </p:sp>
      <p:sp>
        <p:nvSpPr>
          <p:cNvPr id="15" name="Shape 423"/>
          <p:cNvSpPr/>
          <p:nvPr/>
        </p:nvSpPr>
        <p:spPr>
          <a:xfrm>
            <a:off x="8046720" y="132588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6" name="Shape 424"/>
          <p:cNvSpPr/>
          <p:nvPr/>
        </p:nvSpPr>
        <p:spPr>
          <a:xfrm>
            <a:off x="8275320" y="155448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7" name="Icon FaCalendarAlt 425" descr="CalendarAl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340" y="1714500"/>
            <a:ext cx="320040" cy="320040"/>
          </a:xfrm>
          <a:prstGeom prst="rect">
            <a:avLst/>
          </a:prstGeom>
        </p:spPr>
      </p:pic>
      <p:sp>
        <p:nvSpPr>
          <p:cNvPr id="18" name="Shape 426"/>
          <p:cNvSpPr/>
          <p:nvPr/>
        </p:nvSpPr>
        <p:spPr>
          <a:xfrm>
            <a:off x="11000232" y="15544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427"/>
          <p:cNvSpPr txBox="1"/>
          <p:nvPr/>
        </p:nvSpPr>
        <p:spPr>
          <a:xfrm>
            <a:off x="11000232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428"/>
          <p:cNvSpPr txBox="1"/>
          <p:nvPr/>
        </p:nvSpPr>
        <p:spPr>
          <a:xfrm>
            <a:off x="8275320" y="23317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Interview Module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Handles the end-to-end interview session from joining to completion.</a:t>
            </a:r>
            <a:endParaRPr lang="en-US" sz="1600" dirty="0"/>
          </a:p>
        </p:txBody>
      </p:sp>
      <p:sp>
        <p:nvSpPr>
          <p:cNvPr id="21" name="Shape 429"/>
          <p:cNvSpPr/>
          <p:nvPr/>
        </p:nvSpPr>
        <p:spPr>
          <a:xfrm>
            <a:off x="548640" y="384048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2" name="Shape 430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3" name="Icon FaLaptopCode 431" descr="LaptopCod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" y="4229100"/>
            <a:ext cx="320040" cy="320040"/>
          </a:xfrm>
          <a:prstGeom prst="rect">
            <a:avLst/>
          </a:prstGeom>
        </p:spPr>
      </p:pic>
      <p:sp>
        <p:nvSpPr>
          <p:cNvPr id="24" name="Shape 432"/>
          <p:cNvSpPr/>
          <p:nvPr/>
        </p:nvSpPr>
        <p:spPr>
          <a:xfrm>
            <a:off x="3502152" y="40690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433"/>
          <p:cNvSpPr txBox="1"/>
          <p:nvPr/>
        </p:nvSpPr>
        <p:spPr>
          <a:xfrm>
            <a:off x="3502152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434"/>
          <p:cNvSpPr txBox="1"/>
          <p:nvPr/>
        </p:nvSpPr>
        <p:spPr>
          <a:xfrm>
            <a:off x="777240" y="48463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Coding Assessment Module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Collaborative Monaco editor with multi-language code execution.</a:t>
            </a:r>
            <a:endParaRPr lang="en-US" sz="1600" dirty="0"/>
          </a:p>
        </p:txBody>
      </p:sp>
      <p:sp>
        <p:nvSpPr>
          <p:cNvPr id="27" name="Shape 435"/>
          <p:cNvSpPr/>
          <p:nvPr/>
        </p:nvSpPr>
        <p:spPr>
          <a:xfrm>
            <a:off x="4297680" y="384048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8" name="Shape 436"/>
          <p:cNvSpPr/>
          <p:nvPr/>
        </p:nvSpPr>
        <p:spPr>
          <a:xfrm>
            <a:off x="4526280" y="406908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9" name="Icon FaVideo 437" descr="Video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300" y="4229100"/>
            <a:ext cx="320040" cy="320040"/>
          </a:xfrm>
          <a:prstGeom prst="rect">
            <a:avLst/>
          </a:prstGeom>
        </p:spPr>
      </p:pic>
      <p:sp>
        <p:nvSpPr>
          <p:cNvPr id="30" name="Shape 438"/>
          <p:cNvSpPr/>
          <p:nvPr/>
        </p:nvSpPr>
        <p:spPr>
          <a:xfrm>
            <a:off x="7251192" y="40690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1" name="Text 439"/>
          <p:cNvSpPr txBox="1"/>
          <p:nvPr/>
        </p:nvSpPr>
        <p:spPr>
          <a:xfrm>
            <a:off x="7251192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440"/>
          <p:cNvSpPr txBox="1"/>
          <p:nvPr/>
        </p:nvSpPr>
        <p:spPr>
          <a:xfrm>
            <a:off x="4526280" y="48463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Communication &amp; Proctoring Module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WebRTC video and audio with tab-switch monitoring and warnings.</a:t>
            </a:r>
            <a:endParaRPr lang="en-US" sz="1600" dirty="0"/>
          </a:p>
        </p:txBody>
      </p:sp>
      <p:sp>
        <p:nvSpPr>
          <p:cNvPr id="33" name="Shape 441"/>
          <p:cNvSpPr/>
          <p:nvPr/>
        </p:nvSpPr>
        <p:spPr>
          <a:xfrm>
            <a:off x="8046720" y="384048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34" name="Shape 442"/>
          <p:cNvSpPr/>
          <p:nvPr/>
        </p:nvSpPr>
        <p:spPr>
          <a:xfrm>
            <a:off x="8275320" y="406908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5" name="Icon FaFilePdf 443" descr="FilePdf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5340" y="4229100"/>
            <a:ext cx="320040" cy="320040"/>
          </a:xfrm>
          <a:prstGeom prst="rect">
            <a:avLst/>
          </a:prstGeom>
        </p:spPr>
      </p:pic>
      <p:sp>
        <p:nvSpPr>
          <p:cNvPr id="36" name="Shape 444"/>
          <p:cNvSpPr/>
          <p:nvPr/>
        </p:nvSpPr>
        <p:spPr>
          <a:xfrm>
            <a:off x="11000232" y="40690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7" name="Text 445"/>
          <p:cNvSpPr txBox="1"/>
          <p:nvPr/>
        </p:nvSpPr>
        <p:spPr>
          <a:xfrm>
            <a:off x="11000232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8" name="Text 446"/>
          <p:cNvSpPr txBox="1"/>
          <p:nvPr/>
        </p:nvSpPr>
        <p:spPr>
          <a:xfrm>
            <a:off x="8275320" y="48463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AI Evaluation &amp; Reporting Module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Groq-based code review, scoring and PDF scorecard generation.</a:t>
            </a:r>
            <a:endParaRPr lang="en-US" sz="16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Algorithm / Methodology</a:t>
            </a:r>
            <a:endParaRPr lang="en-US" sz="3200" dirty="0"/>
          </a:p>
        </p:txBody>
      </p:sp>
      <p:sp>
        <p:nvSpPr>
          <p:cNvPr id="3" name="Shape 447"/>
          <p:cNvSpPr/>
          <p:nvPr/>
        </p:nvSpPr>
        <p:spPr>
          <a:xfrm>
            <a:off x="548640" y="1325880"/>
            <a:ext cx="2011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4" name="Shape 448"/>
          <p:cNvSpPr/>
          <p:nvPr/>
        </p:nvSpPr>
        <p:spPr>
          <a:xfrm>
            <a:off x="685800" y="146304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449"/>
          <p:cNvSpPr txBox="1"/>
          <p:nvPr/>
        </p:nvSpPr>
        <p:spPr>
          <a:xfrm>
            <a:off x="68580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pic>
        <p:nvPicPr>
          <p:cNvPr id="6" name="Icon 450" descr="Authentic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490472"/>
            <a:ext cx="292608" cy="292608"/>
          </a:xfrm>
          <a:prstGeom prst="rect">
            <a:avLst/>
          </a:prstGeom>
        </p:spPr>
      </p:pic>
      <p:sp>
        <p:nvSpPr>
          <p:cNvPr id="7" name="Text 451"/>
          <p:cNvSpPr txBox="1"/>
          <p:nvPr/>
        </p:nvSpPr>
        <p:spPr>
          <a:xfrm>
            <a:off x="685800" y="189280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Authentication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Secure login for both roles</a:t>
            </a:r>
            <a:endParaRPr lang="en-US" sz="1400" dirty="0"/>
          </a:p>
        </p:txBody>
      </p:sp>
      <p:sp>
        <p:nvSpPr>
          <p:cNvPr id="8" name="Connector 452"/>
          <p:cNvSpPr/>
          <p:nvPr/>
        </p:nvSpPr>
        <p:spPr>
          <a:xfrm>
            <a:off x="2578608" y="1984248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hape 453"/>
          <p:cNvSpPr/>
          <p:nvPr/>
        </p:nvSpPr>
        <p:spPr>
          <a:xfrm>
            <a:off x="2816352" y="1325880"/>
            <a:ext cx="2011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0" name="Shape 454"/>
          <p:cNvSpPr/>
          <p:nvPr/>
        </p:nvSpPr>
        <p:spPr>
          <a:xfrm>
            <a:off x="2953512" y="146304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455"/>
          <p:cNvSpPr txBox="1"/>
          <p:nvPr/>
        </p:nvSpPr>
        <p:spPr>
          <a:xfrm>
            <a:off x="2953512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pic>
        <p:nvPicPr>
          <p:cNvPr id="12" name="Icon 456" descr="Interview Schedul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490472"/>
            <a:ext cx="292608" cy="292608"/>
          </a:xfrm>
          <a:prstGeom prst="rect">
            <a:avLst/>
          </a:prstGeom>
        </p:spPr>
      </p:pic>
      <p:sp>
        <p:nvSpPr>
          <p:cNvPr id="13" name="Text 457"/>
          <p:cNvSpPr txBox="1"/>
          <p:nvPr/>
        </p:nvSpPr>
        <p:spPr>
          <a:xfrm>
            <a:off x="2953512" y="189280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Interview Scheduling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Interviewer creates a session</a:t>
            </a:r>
            <a:endParaRPr lang="en-US" sz="1400" dirty="0"/>
          </a:p>
        </p:txBody>
      </p:sp>
      <p:sp>
        <p:nvSpPr>
          <p:cNvPr id="14" name="Connector 458"/>
          <p:cNvSpPr/>
          <p:nvPr/>
        </p:nvSpPr>
        <p:spPr>
          <a:xfrm>
            <a:off x="4846320" y="1984248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hape 459"/>
          <p:cNvSpPr/>
          <p:nvPr/>
        </p:nvSpPr>
        <p:spPr>
          <a:xfrm>
            <a:off x="5084064" y="1325880"/>
            <a:ext cx="2011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6" name="Shape 460"/>
          <p:cNvSpPr/>
          <p:nvPr/>
        </p:nvSpPr>
        <p:spPr>
          <a:xfrm>
            <a:off x="5221224" y="146304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461"/>
          <p:cNvSpPr txBox="1"/>
          <p:nvPr/>
        </p:nvSpPr>
        <p:spPr>
          <a:xfrm>
            <a:off x="5221224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pic>
        <p:nvPicPr>
          <p:cNvPr id="18" name="Icon 462" descr="Interview Sess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1490472"/>
            <a:ext cx="292608" cy="292608"/>
          </a:xfrm>
          <a:prstGeom prst="rect">
            <a:avLst/>
          </a:prstGeom>
        </p:spPr>
      </p:pic>
      <p:sp>
        <p:nvSpPr>
          <p:cNvPr id="19" name="Text 463"/>
          <p:cNvSpPr txBox="1"/>
          <p:nvPr/>
        </p:nvSpPr>
        <p:spPr>
          <a:xfrm>
            <a:off x="5221224" y="189280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Interview Session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Participants join the room</a:t>
            </a:r>
            <a:endParaRPr lang="en-US" sz="1400" dirty="0"/>
          </a:p>
        </p:txBody>
      </p:sp>
      <p:sp>
        <p:nvSpPr>
          <p:cNvPr id="20" name="Connector 464"/>
          <p:cNvSpPr/>
          <p:nvPr/>
        </p:nvSpPr>
        <p:spPr>
          <a:xfrm>
            <a:off x="7114032" y="1984248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Shape 465"/>
          <p:cNvSpPr/>
          <p:nvPr/>
        </p:nvSpPr>
        <p:spPr>
          <a:xfrm>
            <a:off x="7351776" y="1325880"/>
            <a:ext cx="2011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2" name="Shape 466"/>
          <p:cNvSpPr/>
          <p:nvPr/>
        </p:nvSpPr>
        <p:spPr>
          <a:xfrm>
            <a:off x="7488936" y="146304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467"/>
          <p:cNvSpPr txBox="1"/>
          <p:nvPr/>
        </p:nvSpPr>
        <p:spPr>
          <a:xfrm>
            <a:off x="7488936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pic>
        <p:nvPicPr>
          <p:cNvPr id="24" name="Icon 468" descr="Video / Audi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1490472"/>
            <a:ext cx="292608" cy="292608"/>
          </a:xfrm>
          <a:prstGeom prst="rect">
            <a:avLst/>
          </a:prstGeom>
        </p:spPr>
      </p:pic>
      <p:sp>
        <p:nvSpPr>
          <p:cNvPr id="25" name="Text 469"/>
          <p:cNvSpPr txBox="1"/>
          <p:nvPr/>
        </p:nvSpPr>
        <p:spPr>
          <a:xfrm>
            <a:off x="7488936" y="189280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Video / Audio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WebRTC peer connection</a:t>
            </a:r>
            <a:endParaRPr lang="en-US" sz="1400" dirty="0"/>
          </a:p>
        </p:txBody>
      </p:sp>
      <p:sp>
        <p:nvSpPr>
          <p:cNvPr id="26" name="Connector 470"/>
          <p:cNvSpPr/>
          <p:nvPr/>
        </p:nvSpPr>
        <p:spPr>
          <a:xfrm>
            <a:off x="9381744" y="1984248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Shape 471"/>
          <p:cNvSpPr/>
          <p:nvPr/>
        </p:nvSpPr>
        <p:spPr>
          <a:xfrm>
            <a:off x="9619488" y="1325880"/>
            <a:ext cx="2011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8" name="Shape 472"/>
          <p:cNvSpPr/>
          <p:nvPr/>
        </p:nvSpPr>
        <p:spPr>
          <a:xfrm>
            <a:off x="9756648" y="146304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473"/>
          <p:cNvSpPr txBox="1"/>
          <p:nvPr/>
        </p:nvSpPr>
        <p:spPr>
          <a:xfrm>
            <a:off x="9756648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pic>
        <p:nvPicPr>
          <p:cNvPr id="30" name="Icon 474" descr="Collaborative Cod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73968" y="1490472"/>
            <a:ext cx="292608" cy="292608"/>
          </a:xfrm>
          <a:prstGeom prst="rect">
            <a:avLst/>
          </a:prstGeom>
        </p:spPr>
      </p:pic>
      <p:sp>
        <p:nvSpPr>
          <p:cNvPr id="31" name="Text 475"/>
          <p:cNvSpPr txBox="1"/>
          <p:nvPr/>
        </p:nvSpPr>
        <p:spPr>
          <a:xfrm>
            <a:off x="9756648" y="189280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Collaborative Coding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Monaco editor via Socket.IO</a:t>
            </a:r>
            <a:endParaRPr lang="en-US" sz="1400" dirty="0"/>
          </a:p>
        </p:txBody>
      </p:sp>
      <p:sp>
        <p:nvSpPr>
          <p:cNvPr id="32" name="Shape 476"/>
          <p:cNvSpPr/>
          <p:nvPr/>
        </p:nvSpPr>
        <p:spPr>
          <a:xfrm>
            <a:off x="548640" y="3108960"/>
            <a:ext cx="2011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33" name="Shape 477"/>
          <p:cNvSpPr/>
          <p:nvPr/>
        </p:nvSpPr>
        <p:spPr>
          <a:xfrm>
            <a:off x="685800" y="324612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478"/>
          <p:cNvSpPr txBox="1"/>
          <p:nvPr/>
        </p:nvSpPr>
        <p:spPr>
          <a:xfrm>
            <a:off x="68580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pic>
        <p:nvPicPr>
          <p:cNvPr id="35" name="Icon 479" descr="Code Executi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3120" y="3273552"/>
            <a:ext cx="292608" cy="292608"/>
          </a:xfrm>
          <a:prstGeom prst="rect">
            <a:avLst/>
          </a:prstGeom>
        </p:spPr>
      </p:pic>
      <p:sp>
        <p:nvSpPr>
          <p:cNvPr id="36" name="Text 480"/>
          <p:cNvSpPr txBox="1"/>
          <p:nvPr/>
        </p:nvSpPr>
        <p:spPr>
          <a:xfrm>
            <a:off x="685800" y="367588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Code Execution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Run code in chosen language</a:t>
            </a:r>
            <a:endParaRPr lang="en-US" sz="1400" dirty="0"/>
          </a:p>
        </p:txBody>
      </p:sp>
      <p:sp>
        <p:nvSpPr>
          <p:cNvPr id="37" name="Connector 481"/>
          <p:cNvSpPr/>
          <p:nvPr/>
        </p:nvSpPr>
        <p:spPr>
          <a:xfrm>
            <a:off x="2578608" y="3767328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8" name="Shape 482"/>
          <p:cNvSpPr/>
          <p:nvPr/>
        </p:nvSpPr>
        <p:spPr>
          <a:xfrm>
            <a:off x="2816352" y="3108960"/>
            <a:ext cx="2011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39" name="Shape 483"/>
          <p:cNvSpPr/>
          <p:nvPr/>
        </p:nvSpPr>
        <p:spPr>
          <a:xfrm>
            <a:off x="2953512" y="324612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 484"/>
          <p:cNvSpPr txBox="1"/>
          <p:nvPr/>
        </p:nvSpPr>
        <p:spPr>
          <a:xfrm>
            <a:off x="2953512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pic>
        <p:nvPicPr>
          <p:cNvPr id="41" name="Icon 485" descr="AI Code Evaluati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0832" y="3273552"/>
            <a:ext cx="292608" cy="292608"/>
          </a:xfrm>
          <a:prstGeom prst="rect">
            <a:avLst/>
          </a:prstGeom>
        </p:spPr>
      </p:pic>
      <p:sp>
        <p:nvSpPr>
          <p:cNvPr id="42" name="Text 486"/>
          <p:cNvSpPr txBox="1"/>
          <p:nvPr/>
        </p:nvSpPr>
        <p:spPr>
          <a:xfrm>
            <a:off x="2953512" y="367588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AI Code Evaluation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Groq API reviews the code</a:t>
            </a:r>
            <a:endParaRPr lang="en-US" sz="1400" dirty="0"/>
          </a:p>
        </p:txBody>
      </p:sp>
      <p:sp>
        <p:nvSpPr>
          <p:cNvPr id="43" name="Connector 487"/>
          <p:cNvSpPr/>
          <p:nvPr/>
        </p:nvSpPr>
        <p:spPr>
          <a:xfrm>
            <a:off x="4846320" y="3767328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4" name="Shape 488"/>
          <p:cNvSpPr/>
          <p:nvPr/>
        </p:nvSpPr>
        <p:spPr>
          <a:xfrm>
            <a:off x="5084064" y="3108960"/>
            <a:ext cx="2011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45" name="Shape 489"/>
          <p:cNvSpPr/>
          <p:nvPr/>
        </p:nvSpPr>
        <p:spPr>
          <a:xfrm>
            <a:off x="5221224" y="324612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6" name="Text 490"/>
          <p:cNvSpPr txBox="1"/>
          <p:nvPr/>
        </p:nvSpPr>
        <p:spPr>
          <a:xfrm>
            <a:off x="5221224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pic>
        <p:nvPicPr>
          <p:cNvPr id="47" name="Icon 491" descr="Proctori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8544" y="3273552"/>
            <a:ext cx="292608" cy="292608"/>
          </a:xfrm>
          <a:prstGeom prst="rect">
            <a:avLst/>
          </a:prstGeom>
        </p:spPr>
      </p:pic>
      <p:sp>
        <p:nvSpPr>
          <p:cNvPr id="48" name="Text 492"/>
          <p:cNvSpPr txBox="1"/>
          <p:nvPr/>
        </p:nvSpPr>
        <p:spPr>
          <a:xfrm>
            <a:off x="5221224" y="367588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Proctoring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Tab-switch tracking and warnings</a:t>
            </a:r>
            <a:endParaRPr lang="en-US" sz="1400" dirty="0"/>
          </a:p>
        </p:txBody>
      </p:sp>
      <p:sp>
        <p:nvSpPr>
          <p:cNvPr id="49" name="Connector 493"/>
          <p:cNvSpPr/>
          <p:nvPr/>
        </p:nvSpPr>
        <p:spPr>
          <a:xfrm>
            <a:off x="7114032" y="3767328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0" name="Shape 494"/>
          <p:cNvSpPr/>
          <p:nvPr/>
        </p:nvSpPr>
        <p:spPr>
          <a:xfrm>
            <a:off x="7351776" y="3108960"/>
            <a:ext cx="2011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51" name="Shape 495"/>
          <p:cNvSpPr/>
          <p:nvPr/>
        </p:nvSpPr>
        <p:spPr>
          <a:xfrm>
            <a:off x="7488936" y="324612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2" name="Text 496"/>
          <p:cNvSpPr txBox="1"/>
          <p:nvPr/>
        </p:nvSpPr>
        <p:spPr>
          <a:xfrm>
            <a:off x="7488936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pic>
        <p:nvPicPr>
          <p:cNvPr id="53" name="Icon 497" descr="Feedback &amp; Scori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06256" y="3273552"/>
            <a:ext cx="292608" cy="292608"/>
          </a:xfrm>
          <a:prstGeom prst="rect">
            <a:avLst/>
          </a:prstGeom>
        </p:spPr>
      </p:pic>
      <p:sp>
        <p:nvSpPr>
          <p:cNvPr id="54" name="Text 498"/>
          <p:cNvSpPr txBox="1"/>
          <p:nvPr/>
        </p:nvSpPr>
        <p:spPr>
          <a:xfrm>
            <a:off x="7488936" y="367588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Feedback &amp; Scoring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Interviewer records assessment</a:t>
            </a:r>
            <a:endParaRPr lang="en-US" sz="1400" dirty="0"/>
          </a:p>
        </p:txBody>
      </p:sp>
      <p:sp>
        <p:nvSpPr>
          <p:cNvPr id="55" name="Connector 499"/>
          <p:cNvSpPr/>
          <p:nvPr/>
        </p:nvSpPr>
        <p:spPr>
          <a:xfrm>
            <a:off x="9381744" y="3767328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6" name="Shape 500"/>
          <p:cNvSpPr/>
          <p:nvPr/>
        </p:nvSpPr>
        <p:spPr>
          <a:xfrm>
            <a:off x="9619488" y="3108960"/>
            <a:ext cx="2011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57" name="Shape 501"/>
          <p:cNvSpPr/>
          <p:nvPr/>
        </p:nvSpPr>
        <p:spPr>
          <a:xfrm>
            <a:off x="9756648" y="324612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8" name="Text 502"/>
          <p:cNvSpPr txBox="1"/>
          <p:nvPr/>
        </p:nvSpPr>
        <p:spPr>
          <a:xfrm>
            <a:off x="9756648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pic>
        <p:nvPicPr>
          <p:cNvPr id="59" name="Icon 503" descr="PDF Report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73968" y="3273552"/>
            <a:ext cx="292608" cy="292608"/>
          </a:xfrm>
          <a:prstGeom prst="rect">
            <a:avLst/>
          </a:prstGeom>
        </p:spPr>
      </p:pic>
      <p:sp>
        <p:nvSpPr>
          <p:cNvPr id="60" name="Text 504"/>
          <p:cNvSpPr txBox="1"/>
          <p:nvPr/>
        </p:nvSpPr>
        <p:spPr>
          <a:xfrm>
            <a:off x="9756648" y="367588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PDF Report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Downloadable scorecard</a:t>
            </a:r>
            <a:endParaRPr lang="en-US" sz="1400" dirty="0"/>
          </a:p>
        </p:txBody>
      </p:sp>
      <p:sp>
        <p:nvSpPr>
          <p:cNvPr id="61" name="Connector 505"/>
          <p:cNvSpPr/>
          <p:nvPr/>
        </p:nvSpPr>
        <p:spPr>
          <a:xfrm>
            <a:off x="10625328" y="2651760"/>
            <a:ext cx="0" cy="27432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62" name="Connector 506"/>
          <p:cNvSpPr/>
          <p:nvPr/>
        </p:nvSpPr>
        <p:spPr>
          <a:xfrm>
            <a:off x="1554480" y="2926080"/>
            <a:ext cx="907084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63" name="Connector 507"/>
          <p:cNvSpPr/>
          <p:nvPr/>
        </p:nvSpPr>
        <p:spPr>
          <a:xfrm>
            <a:off x="1554480" y="2926080"/>
            <a:ext cx="0" cy="16459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4" name="Text 508"/>
          <p:cNvSpPr txBox="1"/>
          <p:nvPr/>
        </p:nvSpPr>
        <p:spPr>
          <a:xfrm>
            <a:off x="548640" y="4937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5"/>
                </a:solidFill>
              </a:rPr>
              <a:t>DEVELOPMENT APPROACH (FROM PROJECT PLAN)</a:t>
            </a:r>
            <a:endParaRPr lang="en-US" sz="1100" dirty="0"/>
          </a:p>
        </p:txBody>
      </p:sp>
      <p:sp>
        <p:nvSpPr>
          <p:cNvPr id="65" name="Shape 509"/>
          <p:cNvSpPr/>
          <p:nvPr/>
        </p:nvSpPr>
        <p:spPr>
          <a:xfrm>
            <a:off x="548640" y="5257800"/>
            <a:ext cx="1298448" cy="731520"/>
          </a:xfrm>
          <a:prstGeom prst="roundRect">
            <a:avLst>
              <a:gd name="adj" fmla="val 12500"/>
            </a:avLst>
          </a:prstGeom>
          <a:solidFill>
            <a:schemeClr val="tx2">
              <a:alpha val="94000"/>
            </a:schemeClr>
          </a:solidFill>
          <a:ln/>
        </p:spPr>
      </p:sp>
      <p:sp>
        <p:nvSpPr>
          <p:cNvPr id="66" name="Text 510"/>
          <p:cNvSpPr txBox="1"/>
          <p:nvPr/>
        </p:nvSpPr>
        <p:spPr>
          <a:xfrm>
            <a:off x="594360" y="525780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Requirements Analysis</a:t>
            </a:r>
            <a:endParaRPr lang="en-US" sz="1100" dirty="0"/>
          </a:p>
        </p:txBody>
      </p:sp>
      <p:sp>
        <p:nvSpPr>
          <p:cNvPr id="67" name="Shape 511"/>
          <p:cNvSpPr/>
          <p:nvPr/>
        </p:nvSpPr>
        <p:spPr>
          <a:xfrm>
            <a:off x="1947672" y="5257800"/>
            <a:ext cx="1298448" cy="731520"/>
          </a:xfrm>
          <a:prstGeom prst="roundRect">
            <a:avLst>
              <a:gd name="adj" fmla="val 12500"/>
            </a:avLst>
          </a:prstGeom>
          <a:solidFill>
            <a:schemeClr val="tx2">
              <a:alpha val="94000"/>
            </a:schemeClr>
          </a:solidFill>
          <a:ln/>
        </p:spPr>
      </p:sp>
      <p:sp>
        <p:nvSpPr>
          <p:cNvPr id="68" name="Text 512"/>
          <p:cNvSpPr txBox="1"/>
          <p:nvPr/>
        </p:nvSpPr>
        <p:spPr>
          <a:xfrm>
            <a:off x="1993392" y="525780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System Design</a:t>
            </a:r>
            <a:endParaRPr lang="en-US" sz="1100" dirty="0"/>
          </a:p>
        </p:txBody>
      </p:sp>
      <p:sp>
        <p:nvSpPr>
          <p:cNvPr id="69" name="Shape 513"/>
          <p:cNvSpPr/>
          <p:nvPr/>
        </p:nvSpPr>
        <p:spPr>
          <a:xfrm>
            <a:off x="3346704" y="5257800"/>
            <a:ext cx="1298448" cy="731520"/>
          </a:xfrm>
          <a:prstGeom prst="roundRect">
            <a:avLst>
              <a:gd name="adj" fmla="val 12500"/>
            </a:avLst>
          </a:prstGeom>
          <a:solidFill>
            <a:schemeClr val="tx2">
              <a:alpha val="94000"/>
            </a:schemeClr>
          </a:solidFill>
          <a:ln/>
        </p:spPr>
      </p:sp>
      <p:sp>
        <p:nvSpPr>
          <p:cNvPr id="70" name="Text 514"/>
          <p:cNvSpPr txBox="1"/>
          <p:nvPr/>
        </p:nvSpPr>
        <p:spPr>
          <a:xfrm>
            <a:off x="3392424" y="525780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Frontend Development</a:t>
            </a:r>
            <a:endParaRPr lang="en-US" sz="1100" dirty="0"/>
          </a:p>
        </p:txBody>
      </p:sp>
      <p:sp>
        <p:nvSpPr>
          <p:cNvPr id="71" name="Shape 515"/>
          <p:cNvSpPr/>
          <p:nvPr/>
        </p:nvSpPr>
        <p:spPr>
          <a:xfrm>
            <a:off x="4745736" y="5257800"/>
            <a:ext cx="1298448" cy="731520"/>
          </a:xfrm>
          <a:prstGeom prst="roundRect">
            <a:avLst>
              <a:gd name="adj" fmla="val 12500"/>
            </a:avLst>
          </a:prstGeom>
          <a:solidFill>
            <a:schemeClr val="tx2">
              <a:alpha val="94000"/>
            </a:schemeClr>
          </a:solidFill>
          <a:ln/>
        </p:spPr>
      </p:sp>
      <p:sp>
        <p:nvSpPr>
          <p:cNvPr id="72" name="Text 516"/>
          <p:cNvSpPr txBox="1"/>
          <p:nvPr/>
        </p:nvSpPr>
        <p:spPr>
          <a:xfrm>
            <a:off x="4791456" y="525780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Backend Development</a:t>
            </a:r>
            <a:endParaRPr lang="en-US" sz="1100" dirty="0"/>
          </a:p>
        </p:txBody>
      </p:sp>
      <p:sp>
        <p:nvSpPr>
          <p:cNvPr id="73" name="Shape 517"/>
          <p:cNvSpPr/>
          <p:nvPr/>
        </p:nvSpPr>
        <p:spPr>
          <a:xfrm>
            <a:off x="6144768" y="5257800"/>
            <a:ext cx="1298448" cy="731520"/>
          </a:xfrm>
          <a:prstGeom prst="roundRect">
            <a:avLst>
              <a:gd name="adj" fmla="val 12500"/>
            </a:avLst>
          </a:prstGeom>
          <a:solidFill>
            <a:schemeClr val="tx2">
              <a:alpha val="94000"/>
            </a:schemeClr>
          </a:solidFill>
          <a:ln/>
        </p:spPr>
      </p:sp>
      <p:sp>
        <p:nvSpPr>
          <p:cNvPr id="74" name="Text 518"/>
          <p:cNvSpPr txBox="1"/>
          <p:nvPr/>
        </p:nvSpPr>
        <p:spPr>
          <a:xfrm>
            <a:off x="6190488" y="525780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Database Integration</a:t>
            </a:r>
            <a:endParaRPr lang="en-US" sz="1100" dirty="0"/>
          </a:p>
        </p:txBody>
      </p:sp>
      <p:sp>
        <p:nvSpPr>
          <p:cNvPr id="75" name="Shape 519"/>
          <p:cNvSpPr/>
          <p:nvPr/>
        </p:nvSpPr>
        <p:spPr>
          <a:xfrm>
            <a:off x="7543800" y="5257800"/>
            <a:ext cx="1298448" cy="731520"/>
          </a:xfrm>
          <a:prstGeom prst="roundRect">
            <a:avLst>
              <a:gd name="adj" fmla="val 12500"/>
            </a:avLst>
          </a:prstGeom>
          <a:solidFill>
            <a:schemeClr val="tx2">
              <a:alpha val="94000"/>
            </a:schemeClr>
          </a:solidFill>
          <a:ln/>
        </p:spPr>
      </p:sp>
      <p:sp>
        <p:nvSpPr>
          <p:cNvPr id="76" name="Text 520"/>
          <p:cNvSpPr txBox="1"/>
          <p:nvPr/>
        </p:nvSpPr>
        <p:spPr>
          <a:xfrm>
            <a:off x="7589520" y="525780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AI Integration</a:t>
            </a:r>
            <a:endParaRPr lang="en-US" sz="1100" dirty="0"/>
          </a:p>
        </p:txBody>
      </p:sp>
      <p:sp>
        <p:nvSpPr>
          <p:cNvPr id="77" name="Shape 521"/>
          <p:cNvSpPr/>
          <p:nvPr/>
        </p:nvSpPr>
        <p:spPr>
          <a:xfrm>
            <a:off x="8942832" y="5257800"/>
            <a:ext cx="1298448" cy="731520"/>
          </a:xfrm>
          <a:prstGeom prst="roundRect">
            <a:avLst>
              <a:gd name="adj" fmla="val 12500"/>
            </a:avLst>
          </a:prstGeom>
          <a:solidFill>
            <a:schemeClr val="tx2">
              <a:alpha val="94000"/>
            </a:schemeClr>
          </a:solidFill>
          <a:ln/>
        </p:spPr>
      </p:sp>
      <p:sp>
        <p:nvSpPr>
          <p:cNvPr id="78" name="Text 522"/>
          <p:cNvSpPr txBox="1"/>
          <p:nvPr/>
        </p:nvSpPr>
        <p:spPr>
          <a:xfrm>
            <a:off x="8988552" y="525780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Testing</a:t>
            </a:r>
            <a:endParaRPr lang="en-US" sz="1100" dirty="0"/>
          </a:p>
        </p:txBody>
      </p:sp>
      <p:sp>
        <p:nvSpPr>
          <p:cNvPr id="79" name="Shape 523"/>
          <p:cNvSpPr/>
          <p:nvPr/>
        </p:nvSpPr>
        <p:spPr>
          <a:xfrm>
            <a:off x="10341864" y="5257800"/>
            <a:ext cx="1298448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80" name="Text 524"/>
          <p:cNvSpPr txBox="1"/>
          <p:nvPr/>
        </p:nvSpPr>
        <p:spPr>
          <a:xfrm>
            <a:off x="10387584" y="525780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8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Implementation</a:t>
            </a:r>
            <a:endParaRPr lang="en-US" sz="3200" dirty="0"/>
          </a:p>
        </p:txBody>
      </p:sp>
      <p:sp>
        <p:nvSpPr>
          <p:cNvPr id="3" name="Shape 525"/>
          <p:cNvSpPr/>
          <p:nvPr/>
        </p:nvSpPr>
        <p:spPr>
          <a:xfrm>
            <a:off x="548640" y="132588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4" name="Shape 526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5" name="Icon FaReact 527" descr="Reac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274320" cy="274320"/>
          </a:xfrm>
          <a:prstGeom prst="rect">
            <a:avLst/>
          </a:prstGeom>
        </p:spPr>
      </p:pic>
      <p:sp>
        <p:nvSpPr>
          <p:cNvPr id="6" name="Text 528"/>
          <p:cNvSpPr txBox="1"/>
          <p:nvPr/>
        </p:nvSpPr>
        <p:spPr>
          <a:xfrm>
            <a:off x="146304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Frontend</a:t>
            </a:r>
            <a:endParaRPr lang="en-US" sz="1700" dirty="0"/>
          </a:p>
        </p:txBody>
      </p:sp>
      <p:sp>
        <p:nvSpPr>
          <p:cNvPr id="7" name="Text 529"/>
          <p:cNvSpPr txBox="1"/>
          <p:nvPr/>
        </p:nvSpPr>
        <p:spPr>
          <a:xfrm>
            <a:off x="777240" y="22402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React.js with Vite and Tailwind CSS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Dashboard, login and interview-room screens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Monaco Editor for in-browser coding</a:t>
            </a:r>
            <a:endParaRPr lang="en-US" sz="1300" dirty="0"/>
          </a:p>
        </p:txBody>
      </p:sp>
      <p:sp>
        <p:nvSpPr>
          <p:cNvPr id="8" name="Shape 530"/>
          <p:cNvSpPr/>
          <p:nvPr/>
        </p:nvSpPr>
        <p:spPr>
          <a:xfrm>
            <a:off x="4297680" y="132588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9" name="Shape 531"/>
          <p:cNvSpPr/>
          <p:nvPr/>
        </p:nvSpPr>
        <p:spPr>
          <a:xfrm>
            <a:off x="4526280" y="150876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0" name="Icon FaServer 532" descr="Serv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645920"/>
            <a:ext cx="274320" cy="274320"/>
          </a:xfrm>
          <a:prstGeom prst="rect">
            <a:avLst/>
          </a:prstGeom>
        </p:spPr>
      </p:pic>
      <p:sp>
        <p:nvSpPr>
          <p:cNvPr id="11" name="Text 533"/>
          <p:cNvSpPr txBox="1"/>
          <p:nvPr/>
        </p:nvSpPr>
        <p:spPr>
          <a:xfrm>
            <a:off x="521208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Backend</a:t>
            </a:r>
            <a:endParaRPr lang="en-US" sz="1700" dirty="0"/>
          </a:p>
        </p:txBody>
      </p:sp>
      <p:sp>
        <p:nvSpPr>
          <p:cNvPr id="12" name="Text 534"/>
          <p:cNvSpPr txBox="1"/>
          <p:nvPr/>
        </p:nvSpPr>
        <p:spPr>
          <a:xfrm>
            <a:off x="4526280" y="22402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Node.js and Express.js REST APIs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JWT authentication with role-based access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Interview and session management</a:t>
            </a:r>
            <a:endParaRPr lang="en-US" sz="1300" dirty="0"/>
          </a:p>
        </p:txBody>
      </p:sp>
      <p:sp>
        <p:nvSpPr>
          <p:cNvPr id="13" name="Shape 535"/>
          <p:cNvSpPr/>
          <p:nvPr/>
        </p:nvSpPr>
        <p:spPr>
          <a:xfrm>
            <a:off x="8046720" y="132588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4" name="Shape 536"/>
          <p:cNvSpPr/>
          <p:nvPr/>
        </p:nvSpPr>
        <p:spPr>
          <a:xfrm>
            <a:off x="8275320" y="150876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5" name="Icon FaDatabase 537" descr="Databas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645920"/>
            <a:ext cx="274320" cy="274320"/>
          </a:xfrm>
          <a:prstGeom prst="rect">
            <a:avLst/>
          </a:prstGeom>
        </p:spPr>
      </p:pic>
      <p:sp>
        <p:nvSpPr>
          <p:cNvPr id="16" name="Text 538"/>
          <p:cNvSpPr txBox="1"/>
          <p:nvPr/>
        </p:nvSpPr>
        <p:spPr>
          <a:xfrm>
            <a:off x="896112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Database (MongoDB)</a:t>
            </a:r>
            <a:endParaRPr lang="en-US" sz="1700" dirty="0"/>
          </a:p>
        </p:txBody>
      </p:sp>
      <p:sp>
        <p:nvSpPr>
          <p:cNvPr id="17" name="Text 539"/>
          <p:cNvSpPr txBox="1"/>
          <p:nvPr/>
        </p:nvSpPr>
        <p:spPr>
          <a:xfrm>
            <a:off x="8275320" y="22402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Persistent storage and retrieval of data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Users, interviews and questions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AI evaluations and proctoring logs</a:t>
            </a:r>
            <a:endParaRPr lang="en-US" sz="1300" dirty="0"/>
          </a:p>
        </p:txBody>
      </p:sp>
      <p:sp>
        <p:nvSpPr>
          <p:cNvPr id="18" name="Shape 540"/>
          <p:cNvSpPr/>
          <p:nvPr/>
        </p:nvSpPr>
        <p:spPr>
          <a:xfrm>
            <a:off x="548640" y="384048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9" name="Shape 541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0" name="Icon FaSync 542" descr="Sync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160520"/>
            <a:ext cx="274320" cy="274320"/>
          </a:xfrm>
          <a:prstGeom prst="rect">
            <a:avLst/>
          </a:prstGeom>
        </p:spPr>
      </p:pic>
      <p:sp>
        <p:nvSpPr>
          <p:cNvPr id="21" name="Text 543"/>
          <p:cNvSpPr txBox="1"/>
          <p:nvPr/>
        </p:nvSpPr>
        <p:spPr>
          <a:xfrm>
            <a:off x="146304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Real-Time</a:t>
            </a:r>
            <a:endParaRPr lang="en-US" sz="1700" dirty="0"/>
          </a:p>
        </p:txBody>
      </p:sp>
      <p:sp>
        <p:nvSpPr>
          <p:cNvPr id="22" name="Text 544"/>
          <p:cNvSpPr txBox="1"/>
          <p:nvPr/>
        </p:nvSpPr>
        <p:spPr>
          <a:xfrm>
            <a:off x="777240" y="47548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Socket.IO keeps the shared editor in sync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WebRTC / SimplePeer for video and audio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Live chat and session events</a:t>
            </a:r>
            <a:endParaRPr lang="en-US" sz="1300" dirty="0"/>
          </a:p>
        </p:txBody>
      </p:sp>
      <p:sp>
        <p:nvSpPr>
          <p:cNvPr id="23" name="Shape 545"/>
          <p:cNvSpPr/>
          <p:nvPr/>
        </p:nvSpPr>
        <p:spPr>
          <a:xfrm>
            <a:off x="4297680" y="384048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4" name="Shape 546"/>
          <p:cNvSpPr/>
          <p:nvPr/>
        </p:nvSpPr>
        <p:spPr>
          <a:xfrm>
            <a:off x="4526280" y="402336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5" name="Icon FaRobot 547" descr="Robo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4160520"/>
            <a:ext cx="274320" cy="274320"/>
          </a:xfrm>
          <a:prstGeom prst="rect">
            <a:avLst/>
          </a:prstGeom>
        </p:spPr>
      </p:pic>
      <p:sp>
        <p:nvSpPr>
          <p:cNvPr id="26" name="Text 548"/>
          <p:cNvSpPr txBox="1"/>
          <p:nvPr/>
        </p:nvSpPr>
        <p:spPr>
          <a:xfrm>
            <a:off x="521208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AI Integration</a:t>
            </a:r>
            <a:endParaRPr lang="en-US" sz="1700" dirty="0"/>
          </a:p>
        </p:txBody>
      </p:sp>
      <p:sp>
        <p:nvSpPr>
          <p:cNvPr id="27" name="Text 549"/>
          <p:cNvSpPr txBox="1"/>
          <p:nvPr/>
        </p:nvSpPr>
        <p:spPr>
          <a:xfrm>
            <a:off x="4526280" y="47548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Groq API reviews submitted code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Feedback returned to the Interviewer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Final judgement stays with the Interviewer</a:t>
            </a:r>
            <a:endParaRPr lang="en-US" sz="1300" dirty="0"/>
          </a:p>
        </p:txBody>
      </p:sp>
      <p:sp>
        <p:nvSpPr>
          <p:cNvPr id="28" name="Shape 550"/>
          <p:cNvSpPr/>
          <p:nvPr/>
        </p:nvSpPr>
        <p:spPr>
          <a:xfrm>
            <a:off x="8046720" y="384048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9" name="Shape 551"/>
          <p:cNvSpPr/>
          <p:nvPr/>
        </p:nvSpPr>
        <p:spPr>
          <a:xfrm>
            <a:off x="8275320" y="402336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0" name="Icon FaFilePdf 552" descr="FilePdf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4160520"/>
            <a:ext cx="274320" cy="274320"/>
          </a:xfrm>
          <a:prstGeom prst="rect">
            <a:avLst/>
          </a:prstGeom>
        </p:spPr>
      </p:pic>
      <p:sp>
        <p:nvSpPr>
          <p:cNvPr id="31" name="Text 553"/>
          <p:cNvSpPr txBox="1"/>
          <p:nvPr/>
        </p:nvSpPr>
        <p:spPr>
          <a:xfrm>
            <a:off x="896112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Reporting</a:t>
            </a:r>
            <a:endParaRPr lang="en-US" sz="1700" dirty="0"/>
          </a:p>
        </p:txBody>
      </p:sp>
      <p:sp>
        <p:nvSpPr>
          <p:cNvPr id="32" name="Text 554"/>
          <p:cNvSpPr txBox="1"/>
          <p:nvPr/>
        </p:nvSpPr>
        <p:spPr>
          <a:xfrm>
            <a:off x="8275320" y="47548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jsPDF and html2canvas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Interview scorecard exported as PDF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Downloadable from the dashboard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Results / Analysis</a:t>
            </a:r>
            <a:endParaRPr lang="en-US" sz="3200" dirty="0"/>
          </a:p>
        </p:txBody>
      </p:sp>
      <p:sp>
        <p:nvSpPr>
          <p:cNvPr id="3" name="Shape 555"/>
          <p:cNvSpPr/>
          <p:nvPr/>
        </p:nvSpPr>
        <p:spPr>
          <a:xfrm>
            <a:off x="548640" y="1280160"/>
            <a:ext cx="11091672" cy="548640"/>
          </a:xfrm>
          <a:prstGeom prst="roundRect">
            <a:avLst>
              <a:gd name="adj" fmla="val 16667"/>
            </a:avLst>
          </a:prstGeom>
          <a:solidFill>
            <a:schemeClr val="accent2">
              <a:alpha val="10000"/>
            </a:schemeClr>
          </a:solidFill>
          <a:ln w="9525">
            <a:solidFill>
              <a:srgbClr val="B8E1EA"/>
            </a:solidFill>
            <a:prstDash val="solid"/>
          </a:ln>
        </p:spPr>
      </p:sp>
      <p:sp>
        <p:nvSpPr>
          <p:cNvPr id="4" name="Text 556"/>
          <p:cNvSpPr txBox="1"/>
          <p:nvPr/>
        </p:nvSpPr>
        <p:spPr>
          <a:xfrm>
            <a:off x="777240" y="128016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Functional results (qualitative observations). No quantitative benchmarks recorded.</a:t>
            </a:r>
            <a:endParaRPr lang="en-US" sz="1400" dirty="0"/>
          </a:p>
        </p:txBody>
      </p:sp>
      <p:sp>
        <p:nvSpPr>
          <p:cNvPr id="5" name="Shape 557"/>
          <p:cNvSpPr/>
          <p:nvPr/>
        </p:nvSpPr>
        <p:spPr>
          <a:xfrm>
            <a:off x="548640" y="205740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6" name="Shape 558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7" name="Icon FaLock 559" descr="Lo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366010"/>
            <a:ext cx="251460" cy="251460"/>
          </a:xfrm>
          <a:prstGeom prst="rect">
            <a:avLst/>
          </a:prstGeom>
        </p:spPr>
      </p:pic>
      <p:sp>
        <p:nvSpPr>
          <p:cNvPr id="8" name="Text 560"/>
          <p:cNvSpPr txBox="1"/>
          <p:nvPr/>
        </p:nvSpPr>
        <p:spPr>
          <a:xfrm>
            <a:off x="731520" y="2834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Authentication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Registration and login for Interviewer and Candidate.</a:t>
            </a:r>
            <a:endParaRPr lang="en-US" sz="1400" dirty="0"/>
          </a:p>
        </p:txBody>
      </p:sp>
      <p:sp>
        <p:nvSpPr>
          <p:cNvPr id="9" name="Shape 561"/>
          <p:cNvSpPr/>
          <p:nvPr/>
        </p:nvSpPr>
        <p:spPr>
          <a:xfrm>
            <a:off x="3355848" y="205740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0" name="Shape 562"/>
          <p:cNvSpPr/>
          <p:nvPr/>
        </p:nvSpPr>
        <p:spPr>
          <a:xfrm>
            <a:off x="3538728" y="224028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1" name="Icon FaCalendarAlt 563" descr="CalendarA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458" y="2366010"/>
            <a:ext cx="251460" cy="251460"/>
          </a:xfrm>
          <a:prstGeom prst="rect">
            <a:avLst/>
          </a:prstGeom>
        </p:spPr>
      </p:pic>
      <p:sp>
        <p:nvSpPr>
          <p:cNvPr id="12" name="Text 564"/>
          <p:cNvSpPr txBox="1"/>
          <p:nvPr/>
        </p:nvSpPr>
        <p:spPr>
          <a:xfrm>
            <a:off x="3538728" y="2834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Interview workflow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Interviews scheduled, joined and completed from the dashboard.</a:t>
            </a:r>
            <a:endParaRPr lang="en-US" sz="1400" dirty="0"/>
          </a:p>
        </p:txBody>
      </p:sp>
      <p:sp>
        <p:nvSpPr>
          <p:cNvPr id="13" name="Shape 565"/>
          <p:cNvSpPr/>
          <p:nvPr/>
        </p:nvSpPr>
        <p:spPr>
          <a:xfrm>
            <a:off x="6163056" y="205740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4" name="Shape 566"/>
          <p:cNvSpPr/>
          <p:nvPr/>
        </p:nvSpPr>
        <p:spPr>
          <a:xfrm>
            <a:off x="6345936" y="224028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5" name="Icon FaVideo 567" descr="Video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1666" y="2366010"/>
            <a:ext cx="251460" cy="251460"/>
          </a:xfrm>
          <a:prstGeom prst="rect">
            <a:avLst/>
          </a:prstGeom>
        </p:spPr>
      </p:pic>
      <p:sp>
        <p:nvSpPr>
          <p:cNvPr id="16" name="Text 568"/>
          <p:cNvSpPr txBox="1"/>
          <p:nvPr/>
        </p:nvSpPr>
        <p:spPr>
          <a:xfrm>
            <a:off x="6345936" y="2834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Real-time communication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Video and audio between participants using WebRTC.</a:t>
            </a:r>
            <a:endParaRPr lang="en-US" sz="1400" dirty="0"/>
          </a:p>
        </p:txBody>
      </p:sp>
      <p:sp>
        <p:nvSpPr>
          <p:cNvPr id="17" name="Shape 569"/>
          <p:cNvSpPr/>
          <p:nvPr/>
        </p:nvSpPr>
        <p:spPr>
          <a:xfrm>
            <a:off x="8970264" y="205740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8" name="Shape 570"/>
          <p:cNvSpPr/>
          <p:nvPr/>
        </p:nvSpPr>
        <p:spPr>
          <a:xfrm>
            <a:off x="9153144" y="224028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9" name="Icon FaSync 571" descr="Sync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8874" y="2366010"/>
            <a:ext cx="251460" cy="251460"/>
          </a:xfrm>
          <a:prstGeom prst="rect">
            <a:avLst/>
          </a:prstGeom>
        </p:spPr>
      </p:pic>
      <p:sp>
        <p:nvSpPr>
          <p:cNvPr id="20" name="Text 572"/>
          <p:cNvSpPr txBox="1"/>
          <p:nvPr/>
        </p:nvSpPr>
        <p:spPr>
          <a:xfrm>
            <a:off x="9153144" y="2834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Collaborative coding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Shared Monaco editor kept in sync through Socket.IO.</a:t>
            </a:r>
            <a:endParaRPr lang="en-US" sz="1400" dirty="0"/>
          </a:p>
        </p:txBody>
      </p:sp>
      <p:sp>
        <p:nvSpPr>
          <p:cNvPr id="21" name="Shape 573"/>
          <p:cNvSpPr/>
          <p:nvPr/>
        </p:nvSpPr>
        <p:spPr>
          <a:xfrm>
            <a:off x="548640" y="402336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2" name="Shape 574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3" name="Icon FaLaptopCode 575" descr="LaptopCod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4331970"/>
            <a:ext cx="251460" cy="251460"/>
          </a:xfrm>
          <a:prstGeom prst="rect">
            <a:avLst/>
          </a:prstGeom>
        </p:spPr>
      </p:pic>
      <p:sp>
        <p:nvSpPr>
          <p:cNvPr id="24" name="Text 576"/>
          <p:cNvSpPr txBox="1"/>
          <p:nvPr/>
        </p:nvSpPr>
        <p:spPr>
          <a:xfrm>
            <a:off x="731520" y="4800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Code execution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Submitted code run directly from the editor.</a:t>
            </a:r>
            <a:endParaRPr lang="en-US" sz="1400" dirty="0"/>
          </a:p>
        </p:txBody>
      </p:sp>
      <p:sp>
        <p:nvSpPr>
          <p:cNvPr id="25" name="Shape 577"/>
          <p:cNvSpPr/>
          <p:nvPr/>
        </p:nvSpPr>
        <p:spPr>
          <a:xfrm>
            <a:off x="3355848" y="402336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6" name="Shape 578"/>
          <p:cNvSpPr/>
          <p:nvPr/>
        </p:nvSpPr>
        <p:spPr>
          <a:xfrm>
            <a:off x="3538728" y="420624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7" name="Icon FaRobot 579" descr="Robot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4458" y="4331970"/>
            <a:ext cx="251460" cy="251460"/>
          </a:xfrm>
          <a:prstGeom prst="rect">
            <a:avLst/>
          </a:prstGeom>
        </p:spPr>
      </p:pic>
      <p:sp>
        <p:nvSpPr>
          <p:cNvPr id="28" name="Text 580"/>
          <p:cNvSpPr txBox="1"/>
          <p:nvPr/>
        </p:nvSpPr>
        <p:spPr>
          <a:xfrm>
            <a:off x="3538728" y="4800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AI evaluation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Groq-based review returned for submitted code.</a:t>
            </a:r>
            <a:endParaRPr lang="en-US" sz="1400" dirty="0"/>
          </a:p>
        </p:txBody>
      </p:sp>
      <p:sp>
        <p:nvSpPr>
          <p:cNvPr id="29" name="Shape 581"/>
          <p:cNvSpPr/>
          <p:nvPr/>
        </p:nvSpPr>
        <p:spPr>
          <a:xfrm>
            <a:off x="6163056" y="402336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30" name="Shape 582"/>
          <p:cNvSpPr/>
          <p:nvPr/>
        </p:nvSpPr>
        <p:spPr>
          <a:xfrm>
            <a:off x="6345936" y="420624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1" name="Icon FaEye 583" descr="Eye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1666" y="4331970"/>
            <a:ext cx="251460" cy="251460"/>
          </a:xfrm>
          <a:prstGeom prst="rect">
            <a:avLst/>
          </a:prstGeom>
        </p:spPr>
      </p:pic>
      <p:sp>
        <p:nvSpPr>
          <p:cNvPr id="32" name="Text 584"/>
          <p:cNvSpPr txBox="1"/>
          <p:nvPr/>
        </p:nvSpPr>
        <p:spPr>
          <a:xfrm>
            <a:off x="6345936" y="4800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Proctoring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Tab-switch activity tracked with warnings and records.</a:t>
            </a:r>
            <a:endParaRPr lang="en-US" sz="1400" dirty="0"/>
          </a:p>
        </p:txBody>
      </p:sp>
      <p:sp>
        <p:nvSpPr>
          <p:cNvPr id="33" name="Shape 585"/>
          <p:cNvSpPr/>
          <p:nvPr/>
        </p:nvSpPr>
        <p:spPr>
          <a:xfrm>
            <a:off x="8970264" y="402336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34" name="Shape 586"/>
          <p:cNvSpPr/>
          <p:nvPr/>
        </p:nvSpPr>
        <p:spPr>
          <a:xfrm>
            <a:off x="9153144" y="4206240"/>
            <a:ext cx="502920" cy="502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5" name="Icon FaFilePdf 587" descr="FilePdf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8874" y="4331970"/>
            <a:ext cx="251460" cy="251460"/>
          </a:xfrm>
          <a:prstGeom prst="rect">
            <a:avLst/>
          </a:prstGeom>
        </p:spPr>
      </p:pic>
      <p:sp>
        <p:nvSpPr>
          <p:cNvPr id="36" name="Text 588"/>
          <p:cNvSpPr txBox="1"/>
          <p:nvPr/>
        </p:nvSpPr>
        <p:spPr>
          <a:xfrm>
            <a:off x="9153144" y="4800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Report generation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Interview scorecard exported as a PDF.</a:t>
            </a:r>
            <a:endParaRPr lang="en-US" sz="1400" dirty="0"/>
          </a:p>
        </p:txBody>
      </p:sp>
      <p:sp>
        <p:nvSpPr>
          <p:cNvPr id="37" name="Text 589"/>
          <p:cNvSpPr txBox="1"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Accuracy, precision, recall, F1-score and response time: Not Available.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Screenshots / Output</a:t>
            </a:r>
            <a:endParaRPr lang="en-US" sz="3200" dirty="0"/>
          </a:p>
        </p:txBody>
      </p:sp>
      <p:sp>
        <p:nvSpPr>
          <p:cNvPr id="3" name="Shape 590"/>
          <p:cNvSpPr/>
          <p:nvPr/>
        </p:nvSpPr>
        <p:spPr>
          <a:xfrm>
            <a:off x="548640" y="1048871"/>
            <a:ext cx="3520440" cy="2608729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5" name="Text 591"/>
          <p:cNvSpPr txBox="1"/>
          <p:nvPr/>
        </p:nvSpPr>
        <p:spPr>
          <a:xfrm>
            <a:off x="420624" y="3334003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Login page</a:t>
            </a:r>
            <a:endParaRPr lang="en-US" sz="1300" dirty="0"/>
          </a:p>
        </p:txBody>
      </p:sp>
      <p:sp>
        <p:nvSpPr>
          <p:cNvPr id="6" name="Shape 592"/>
          <p:cNvSpPr/>
          <p:nvPr/>
        </p:nvSpPr>
        <p:spPr>
          <a:xfrm>
            <a:off x="4334256" y="1048871"/>
            <a:ext cx="3520440" cy="2608729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8" name="Text 593"/>
          <p:cNvSpPr txBox="1"/>
          <p:nvPr/>
        </p:nvSpPr>
        <p:spPr>
          <a:xfrm>
            <a:off x="4334256" y="3341795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Registration page</a:t>
            </a:r>
            <a:endParaRPr lang="en-US" sz="1300" dirty="0"/>
          </a:p>
        </p:txBody>
      </p:sp>
      <p:sp>
        <p:nvSpPr>
          <p:cNvPr id="9" name="Shape 594"/>
          <p:cNvSpPr/>
          <p:nvPr/>
        </p:nvSpPr>
        <p:spPr>
          <a:xfrm>
            <a:off x="8119872" y="1048871"/>
            <a:ext cx="3520440" cy="2608729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1" name="Text 595"/>
          <p:cNvSpPr txBox="1"/>
          <p:nvPr/>
        </p:nvSpPr>
        <p:spPr>
          <a:xfrm>
            <a:off x="8119872" y="3340353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Candidate dashboard</a:t>
            </a:r>
            <a:endParaRPr lang="en-US" sz="1300" dirty="0"/>
          </a:p>
        </p:txBody>
      </p:sp>
      <p:sp>
        <p:nvSpPr>
          <p:cNvPr id="12" name="Shape 596"/>
          <p:cNvSpPr/>
          <p:nvPr/>
        </p:nvSpPr>
        <p:spPr>
          <a:xfrm>
            <a:off x="548640" y="3794760"/>
            <a:ext cx="3520440" cy="2608728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4" name="Text 597"/>
          <p:cNvSpPr txBox="1"/>
          <p:nvPr/>
        </p:nvSpPr>
        <p:spPr>
          <a:xfrm>
            <a:off x="420624" y="6096565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Interviewer dashboard</a:t>
            </a:r>
            <a:endParaRPr lang="en-US" sz="1300" dirty="0"/>
          </a:p>
        </p:txBody>
      </p:sp>
      <p:sp>
        <p:nvSpPr>
          <p:cNvPr id="15" name="Shape 598"/>
          <p:cNvSpPr/>
          <p:nvPr/>
        </p:nvSpPr>
        <p:spPr>
          <a:xfrm>
            <a:off x="4334256" y="3794760"/>
            <a:ext cx="3520440" cy="2608728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7" name="Text 599"/>
          <p:cNvSpPr txBox="1"/>
          <p:nvPr/>
        </p:nvSpPr>
        <p:spPr>
          <a:xfrm>
            <a:off x="4354830" y="6096565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Live interview room with code editor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F800347-6546-3E5B-D090-1B4ABC3F2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35" y="1150739"/>
            <a:ext cx="2830606" cy="215723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4EA347A-7691-AC55-7639-7A139EF5E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535" y="1150739"/>
            <a:ext cx="2723030" cy="219279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EA62EA4-14E1-2F86-33AA-7344E4FC60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1397" y="1154804"/>
            <a:ext cx="3317389" cy="217919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B0B789B-E214-7AD9-B7C0-FEE8322B18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06" y="3898850"/>
            <a:ext cx="3282158" cy="220019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ADEF9A6-A62D-D7AF-0531-8769C49CE2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8025" y="3898850"/>
            <a:ext cx="3415950" cy="2192806"/>
          </a:xfrm>
          <a:prstGeom prst="rect">
            <a:avLst/>
          </a:prstGeom>
        </p:spPr>
      </p:pic>
      <p:sp>
        <p:nvSpPr>
          <p:cNvPr id="37" name="Shape 598">
            <a:extLst>
              <a:ext uri="{FF2B5EF4-FFF2-40B4-BE49-F238E27FC236}">
                <a16:creationId xmlns:a16="http://schemas.microsoft.com/office/drawing/2014/main" id="{0BACC86A-71EF-3776-3FAE-0EB7285903F8}"/>
              </a:ext>
            </a:extLst>
          </p:cNvPr>
          <p:cNvSpPr/>
          <p:nvPr/>
        </p:nvSpPr>
        <p:spPr>
          <a:xfrm>
            <a:off x="8140446" y="3806387"/>
            <a:ext cx="3520440" cy="2608728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38" name="Text 599">
            <a:extLst>
              <a:ext uri="{FF2B5EF4-FFF2-40B4-BE49-F238E27FC236}">
                <a16:creationId xmlns:a16="http://schemas.microsoft.com/office/drawing/2014/main" id="{8B337127-4A9C-CC5E-A294-5773CF53C14F}"/>
              </a:ext>
            </a:extLst>
          </p:cNvPr>
          <p:cNvSpPr txBox="1"/>
          <p:nvPr/>
        </p:nvSpPr>
        <p:spPr>
          <a:xfrm>
            <a:off x="8161020" y="610819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PDF Scorecard</a:t>
            </a:r>
            <a:endParaRPr lang="en-US" sz="13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AF45A34-1C05-D873-F70B-88CE101B3C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1396" y="3898850"/>
            <a:ext cx="3317389" cy="220934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Comparison with Existing System</a:t>
            </a:r>
            <a:endParaRPr lang="en-US" sz="3200" dirty="0"/>
          </a:p>
        </p:txBody>
      </p:sp>
      <p:graphicFrame>
        <p:nvGraphicFramePr>
          <p:cNvPr id="2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485546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Existing System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Talent Flow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Video Communication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Separate meeting tool (e.g., Zoom, Google Meet)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Built-in WebRTC video and audio in the interview room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Coding Environment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Separate coding platform or screen sharing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Integrated Monaco editor with multi-language execution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Real-Time Collaboration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Limited; depends on screen sharing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Shared editor synchronized through Socket.IO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AI Evaluation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Manual review by the interviewer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AI-based code review using Groq API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Proctoring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Manual observation or a separate tool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Built-in tab-switch tracking with warnings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Interview Management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Spread across several tools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Dashboard for sessions and interview history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Reporting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Manual notes and records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Automated PDF scorecard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Accessibility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Multiple tools and accounts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Browser-based single platform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Security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Varies by tool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Secure authentication and role-based access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Testing</a:t>
            </a:r>
            <a:endParaRPr lang="en-US" sz="3200" dirty="0"/>
          </a:p>
        </p:txBody>
      </p:sp>
      <p:sp>
        <p:nvSpPr>
          <p:cNvPr id="3" name="Shape 604"/>
          <p:cNvSpPr/>
          <p:nvPr/>
        </p:nvSpPr>
        <p:spPr>
          <a:xfrm>
            <a:off x="548640" y="1325880"/>
            <a:ext cx="3383280" cy="1078992"/>
          </a:xfrm>
          <a:prstGeom prst="roundRect">
            <a:avLst>
              <a:gd name="adj" fmla="val 10169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4" name="Shape 605"/>
          <p:cNvSpPr/>
          <p:nvPr/>
        </p:nvSpPr>
        <p:spPr>
          <a:xfrm>
            <a:off x="731520" y="1563624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5" name="Icon FaFlask 606" descr="Flas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1712214"/>
            <a:ext cx="297180" cy="297180"/>
          </a:xfrm>
          <a:prstGeom prst="rect">
            <a:avLst/>
          </a:prstGeom>
        </p:spPr>
      </p:pic>
      <p:sp>
        <p:nvSpPr>
          <p:cNvPr id="6" name="Text 607"/>
          <p:cNvSpPr txBox="1"/>
          <p:nvPr/>
        </p:nvSpPr>
        <p:spPr>
          <a:xfrm>
            <a:off x="1508760" y="1325880"/>
            <a:ext cx="2331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Unit Testing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Individual functions and components</a:t>
            </a:r>
            <a:endParaRPr lang="en-US" sz="1500" dirty="0"/>
          </a:p>
        </p:txBody>
      </p:sp>
      <p:sp>
        <p:nvSpPr>
          <p:cNvPr id="7" name="Shape 608"/>
          <p:cNvSpPr/>
          <p:nvPr/>
        </p:nvSpPr>
        <p:spPr>
          <a:xfrm>
            <a:off x="548640" y="2514600"/>
            <a:ext cx="3383280" cy="1078992"/>
          </a:xfrm>
          <a:prstGeom prst="roundRect">
            <a:avLst>
              <a:gd name="adj" fmla="val 10169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8" name="Shape 609"/>
          <p:cNvSpPr/>
          <p:nvPr/>
        </p:nvSpPr>
        <p:spPr>
          <a:xfrm>
            <a:off x="731520" y="2752344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9" name="Icon FaPlug 610" descr="Plu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" y="2900934"/>
            <a:ext cx="297180" cy="297180"/>
          </a:xfrm>
          <a:prstGeom prst="rect">
            <a:avLst/>
          </a:prstGeom>
        </p:spPr>
      </p:pic>
      <p:sp>
        <p:nvSpPr>
          <p:cNvPr id="10" name="Text 611"/>
          <p:cNvSpPr txBox="1"/>
          <p:nvPr/>
        </p:nvSpPr>
        <p:spPr>
          <a:xfrm>
            <a:off x="1508760" y="2514600"/>
            <a:ext cx="2331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Integration Testing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Frontend, backend and MongoDB together</a:t>
            </a:r>
            <a:endParaRPr lang="en-US" sz="1500" dirty="0"/>
          </a:p>
        </p:txBody>
      </p:sp>
      <p:sp>
        <p:nvSpPr>
          <p:cNvPr id="11" name="Shape 612"/>
          <p:cNvSpPr/>
          <p:nvPr/>
        </p:nvSpPr>
        <p:spPr>
          <a:xfrm>
            <a:off x="548640" y="3703320"/>
            <a:ext cx="3383280" cy="1078992"/>
          </a:xfrm>
          <a:prstGeom prst="roundRect">
            <a:avLst>
              <a:gd name="adj" fmla="val 10169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2" name="Shape 613"/>
          <p:cNvSpPr/>
          <p:nvPr/>
        </p:nvSpPr>
        <p:spPr>
          <a:xfrm>
            <a:off x="731520" y="3941064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3" name="Icon FaProjectDiagram 614" descr="ProjectDiagram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" y="4089654"/>
            <a:ext cx="297180" cy="297180"/>
          </a:xfrm>
          <a:prstGeom prst="rect">
            <a:avLst/>
          </a:prstGeom>
        </p:spPr>
      </p:pic>
      <p:sp>
        <p:nvSpPr>
          <p:cNvPr id="14" name="Text 615"/>
          <p:cNvSpPr txBox="1"/>
          <p:nvPr/>
        </p:nvSpPr>
        <p:spPr>
          <a:xfrm>
            <a:off x="1508760" y="3703320"/>
            <a:ext cx="2331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System Testing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Complete interview workflow end to end</a:t>
            </a:r>
            <a:endParaRPr lang="en-US" sz="1500" dirty="0"/>
          </a:p>
        </p:txBody>
      </p:sp>
      <p:sp>
        <p:nvSpPr>
          <p:cNvPr id="15" name="Shape 616"/>
          <p:cNvSpPr/>
          <p:nvPr/>
        </p:nvSpPr>
        <p:spPr>
          <a:xfrm>
            <a:off x="548640" y="4892040"/>
            <a:ext cx="3383280" cy="1078992"/>
          </a:xfrm>
          <a:prstGeom prst="roundRect">
            <a:avLst>
              <a:gd name="adj" fmla="val 10169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6" name="Shape 617"/>
          <p:cNvSpPr/>
          <p:nvPr/>
        </p:nvSpPr>
        <p:spPr>
          <a:xfrm>
            <a:off x="731520" y="5129784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7" name="Icon FaUserCheck 618" descr="UserChe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10" y="5278374"/>
            <a:ext cx="297180" cy="297180"/>
          </a:xfrm>
          <a:prstGeom prst="rect">
            <a:avLst/>
          </a:prstGeom>
        </p:spPr>
      </p:pic>
      <p:sp>
        <p:nvSpPr>
          <p:cNvPr id="18" name="Text 619"/>
          <p:cNvSpPr txBox="1"/>
          <p:nvPr/>
        </p:nvSpPr>
        <p:spPr>
          <a:xfrm>
            <a:off x="1508760" y="4892040"/>
            <a:ext cx="2331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User Acceptance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Feedback from users, if applicable</a:t>
            </a:r>
            <a:endParaRPr lang="en-US" sz="1500" dirty="0"/>
          </a:p>
        </p:txBody>
      </p:sp>
      <p:sp>
        <p:nvSpPr>
          <p:cNvPr id="20" name="Text 620"/>
          <p:cNvSpPr txBox="1"/>
          <p:nvPr/>
        </p:nvSpPr>
        <p:spPr>
          <a:xfrm>
            <a:off x="4114800" y="5971032"/>
            <a:ext cx="747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i="1" dirty="0">
              <a:solidFill>
                <a:schemeClr val="accent5"/>
              </a:solidFill>
            </a:endParaRPr>
          </a:p>
          <a:p>
            <a:r>
              <a:rPr lang="en-US" sz="1100" i="1" dirty="0">
                <a:solidFill>
                  <a:schemeClr val="accent5"/>
                </a:solidFill>
              </a:rPr>
              <a:t>Results recorded from manual functional testing of the project; no test statistics are claimed.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pic>
        <p:nvPicPr>
          <p:cNvPr id="19" name="table">
            <a:extLst>
              <a:ext uri="{FF2B5EF4-FFF2-40B4-BE49-F238E27FC236}">
                <a16:creationId xmlns:a16="http://schemas.microsoft.com/office/drawing/2014/main" id="{B7F4A793-4097-EA37-759A-8C45D93D66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8388" y="1373483"/>
            <a:ext cx="7479792" cy="459754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Demo Video</a:t>
            </a:r>
            <a:endParaRPr lang="en-US" sz="3200" dirty="0"/>
          </a:p>
        </p:txBody>
      </p:sp>
      <p:sp>
        <p:nvSpPr>
          <p:cNvPr id="3" name="Shape 621"/>
          <p:cNvSpPr/>
          <p:nvPr/>
        </p:nvSpPr>
        <p:spPr>
          <a:xfrm>
            <a:off x="548640" y="1124711"/>
            <a:ext cx="7315200" cy="4613789"/>
          </a:xfrm>
          <a:prstGeom prst="roundRect">
            <a:avLst>
              <a:gd name="adj" fmla="val 3556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509FD48-E382-9507-416E-DD2E40993D2E}"/>
              </a:ext>
            </a:extLst>
          </p:cNvPr>
          <p:cNvGrpSpPr/>
          <p:nvPr/>
        </p:nvGrpSpPr>
        <p:grpSpPr>
          <a:xfrm>
            <a:off x="3314699" y="2137988"/>
            <a:ext cx="1573307" cy="1612368"/>
            <a:chOff x="3474720" y="2148840"/>
            <a:chExt cx="1463040" cy="1463040"/>
          </a:xfrm>
        </p:grpSpPr>
        <p:sp>
          <p:nvSpPr>
            <p:cNvPr id="4" name="Shape 622"/>
            <p:cNvSpPr/>
            <p:nvPr/>
          </p:nvSpPr>
          <p:spPr>
            <a:xfrm>
              <a:off x="3474720" y="2148840"/>
              <a:ext cx="1463040" cy="1463040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pic>
          <p:nvPicPr>
            <p:cNvPr id="5" name="Icon play 623" descr="play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0208" y="2651760"/>
              <a:ext cx="548640" cy="548640"/>
            </a:xfrm>
            <a:prstGeom prst="rect">
              <a:avLst/>
            </a:prstGeom>
          </p:spPr>
        </p:pic>
      </p:grpSp>
      <p:sp>
        <p:nvSpPr>
          <p:cNvPr id="6" name="Text 624"/>
          <p:cNvSpPr txBox="1"/>
          <p:nvPr/>
        </p:nvSpPr>
        <p:spPr>
          <a:xfrm>
            <a:off x="365760" y="4160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bg1"/>
                </a:solidFill>
              </a:rPr>
              <a:t>Talent Flow – Project Demonstration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Shape 625"/>
          <p:cNvSpPr/>
          <p:nvPr/>
        </p:nvSpPr>
        <p:spPr>
          <a:xfrm>
            <a:off x="8138160" y="1325880"/>
            <a:ext cx="3502152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8" name="Text 626"/>
          <p:cNvSpPr txBox="1"/>
          <p:nvPr/>
        </p:nvSpPr>
        <p:spPr>
          <a:xfrm>
            <a:off x="836676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Suggested demo flow</a:t>
            </a:r>
            <a:endParaRPr lang="en-US" sz="1500" dirty="0"/>
          </a:p>
        </p:txBody>
      </p:sp>
      <p:sp>
        <p:nvSpPr>
          <p:cNvPr id="9" name="Shape 627"/>
          <p:cNvSpPr/>
          <p:nvPr/>
        </p:nvSpPr>
        <p:spPr>
          <a:xfrm>
            <a:off x="8366760" y="192024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628"/>
          <p:cNvSpPr txBox="1"/>
          <p:nvPr/>
        </p:nvSpPr>
        <p:spPr>
          <a:xfrm>
            <a:off x="836676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629"/>
          <p:cNvSpPr txBox="1"/>
          <p:nvPr/>
        </p:nvSpPr>
        <p:spPr>
          <a:xfrm>
            <a:off x="877824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Register and log in</a:t>
            </a:r>
            <a:endParaRPr lang="en-US" sz="1200" dirty="0"/>
          </a:p>
        </p:txBody>
      </p:sp>
      <p:sp>
        <p:nvSpPr>
          <p:cNvPr id="12" name="Shape 630"/>
          <p:cNvSpPr/>
          <p:nvPr/>
        </p:nvSpPr>
        <p:spPr>
          <a:xfrm>
            <a:off x="8366760" y="232257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631"/>
          <p:cNvSpPr txBox="1"/>
          <p:nvPr/>
        </p:nvSpPr>
        <p:spPr>
          <a:xfrm>
            <a:off x="8366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632"/>
          <p:cNvSpPr txBox="1"/>
          <p:nvPr/>
        </p:nvSpPr>
        <p:spPr>
          <a:xfrm>
            <a:off x="8778240" y="23225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Schedule an interview</a:t>
            </a:r>
            <a:endParaRPr lang="en-US" sz="1200" dirty="0"/>
          </a:p>
        </p:txBody>
      </p:sp>
      <p:sp>
        <p:nvSpPr>
          <p:cNvPr id="15" name="Shape 633"/>
          <p:cNvSpPr/>
          <p:nvPr/>
        </p:nvSpPr>
        <p:spPr>
          <a:xfrm>
            <a:off x="8366760" y="2724912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634"/>
          <p:cNvSpPr txBox="1"/>
          <p:nvPr/>
        </p:nvSpPr>
        <p:spPr>
          <a:xfrm>
            <a:off x="8366760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635"/>
          <p:cNvSpPr txBox="1"/>
          <p:nvPr/>
        </p:nvSpPr>
        <p:spPr>
          <a:xfrm>
            <a:off x="8778240" y="27249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Live room: video + code</a:t>
            </a:r>
            <a:endParaRPr lang="en-US" sz="1200" dirty="0"/>
          </a:p>
        </p:txBody>
      </p:sp>
      <p:sp>
        <p:nvSpPr>
          <p:cNvPr id="18" name="Shape 636"/>
          <p:cNvSpPr/>
          <p:nvPr/>
        </p:nvSpPr>
        <p:spPr>
          <a:xfrm>
            <a:off x="8366760" y="312724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637"/>
          <p:cNvSpPr txBox="1"/>
          <p:nvPr/>
        </p:nvSpPr>
        <p:spPr>
          <a:xfrm>
            <a:off x="836676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638"/>
          <p:cNvSpPr txBox="1"/>
          <p:nvPr/>
        </p:nvSpPr>
        <p:spPr>
          <a:xfrm>
            <a:off x="8778240" y="3127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AI evaluation and proctoring</a:t>
            </a:r>
            <a:endParaRPr lang="en-US" sz="1200" dirty="0"/>
          </a:p>
        </p:txBody>
      </p:sp>
      <p:sp>
        <p:nvSpPr>
          <p:cNvPr id="21" name="Shape 639"/>
          <p:cNvSpPr/>
          <p:nvPr/>
        </p:nvSpPr>
        <p:spPr>
          <a:xfrm>
            <a:off x="8366760" y="352958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640"/>
          <p:cNvSpPr txBox="1"/>
          <p:nvPr/>
        </p:nvSpPr>
        <p:spPr>
          <a:xfrm>
            <a:off x="836676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641"/>
          <p:cNvSpPr txBox="1"/>
          <p:nvPr/>
        </p:nvSpPr>
        <p:spPr>
          <a:xfrm>
            <a:off x="8778240" y="35295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PDF scorecard</a:t>
            </a:r>
            <a:endParaRPr lang="en-US" sz="1200" dirty="0"/>
          </a:p>
        </p:txBody>
      </p:sp>
      <p:sp>
        <p:nvSpPr>
          <p:cNvPr id="24" name="Placeholder 642"/>
          <p:cNvSpPr/>
          <p:nvPr/>
        </p:nvSpPr>
        <p:spPr>
          <a:xfrm>
            <a:off x="8138160" y="4160520"/>
            <a:ext cx="3502152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25" name="Icon 644" descr="q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4434840"/>
            <a:ext cx="731520" cy="731520"/>
          </a:xfrm>
          <a:prstGeom prst="rect">
            <a:avLst/>
          </a:prstGeom>
        </p:spPr>
      </p:pic>
      <p:sp>
        <p:nvSpPr>
          <p:cNvPr id="26" name="Text 645"/>
          <p:cNvSpPr txBox="1"/>
          <p:nvPr/>
        </p:nvSpPr>
        <p:spPr>
          <a:xfrm>
            <a:off x="9281160" y="41605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QR code / link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Add before presenting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Advantages</a:t>
            </a:r>
            <a:endParaRPr lang="en-US" sz="3200" dirty="0"/>
          </a:p>
        </p:txBody>
      </p:sp>
      <p:sp>
        <p:nvSpPr>
          <p:cNvPr id="3" name="Shape 646"/>
          <p:cNvSpPr/>
          <p:nvPr/>
        </p:nvSpPr>
        <p:spPr>
          <a:xfrm>
            <a:off x="548640" y="132588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4" name="Shape 647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FaLayerGroup 648" descr="LayerGrou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1703070"/>
            <a:ext cx="297180" cy="297180"/>
          </a:xfrm>
          <a:prstGeom prst="rect">
            <a:avLst/>
          </a:prstGeom>
        </p:spPr>
      </p:pic>
      <p:sp>
        <p:nvSpPr>
          <p:cNvPr id="6" name="Text 649"/>
          <p:cNvSpPr txBox="1"/>
          <p:nvPr/>
        </p:nvSpPr>
        <p:spPr>
          <a:xfrm>
            <a:off x="1600200" y="132588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Unified interview environment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Video, code and assessment together.</a:t>
            </a:r>
            <a:endParaRPr lang="en-US" sz="1600" dirty="0"/>
          </a:p>
        </p:txBody>
      </p:sp>
      <p:sp>
        <p:nvSpPr>
          <p:cNvPr id="7" name="Shape 650"/>
          <p:cNvSpPr/>
          <p:nvPr/>
        </p:nvSpPr>
        <p:spPr>
          <a:xfrm>
            <a:off x="6126480" y="132588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8" name="Shape 651"/>
          <p:cNvSpPr/>
          <p:nvPr/>
        </p:nvSpPr>
        <p:spPr>
          <a:xfrm>
            <a:off x="6355080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 FaPlug 652" descr="Plu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670" y="1703070"/>
            <a:ext cx="297180" cy="297180"/>
          </a:xfrm>
          <a:prstGeom prst="rect">
            <a:avLst/>
          </a:prstGeom>
        </p:spPr>
      </p:pic>
      <p:sp>
        <p:nvSpPr>
          <p:cNvPr id="10" name="Text 653"/>
          <p:cNvSpPr txBox="1"/>
          <p:nvPr/>
        </p:nvSpPr>
        <p:spPr>
          <a:xfrm>
            <a:off x="7178040" y="132588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Fewer tools needed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Reduced dependency on separate platforms.</a:t>
            </a:r>
            <a:endParaRPr lang="en-US" sz="1600" dirty="0"/>
          </a:p>
        </p:txBody>
      </p:sp>
      <p:sp>
        <p:nvSpPr>
          <p:cNvPr id="11" name="Shape 654"/>
          <p:cNvSpPr/>
          <p:nvPr/>
        </p:nvSpPr>
        <p:spPr>
          <a:xfrm>
            <a:off x="548640" y="251460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2" name="Shape 655"/>
          <p:cNvSpPr/>
          <p:nvPr/>
        </p:nvSpPr>
        <p:spPr>
          <a:xfrm>
            <a:off x="777240" y="2743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FaSync 656" descr="Sync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2891790"/>
            <a:ext cx="297180" cy="297180"/>
          </a:xfrm>
          <a:prstGeom prst="rect">
            <a:avLst/>
          </a:prstGeom>
        </p:spPr>
      </p:pic>
      <p:sp>
        <p:nvSpPr>
          <p:cNvPr id="14" name="Text 657"/>
          <p:cNvSpPr txBox="1"/>
          <p:nvPr/>
        </p:nvSpPr>
        <p:spPr>
          <a:xfrm>
            <a:off x="1600200" y="25146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Real-time collaboration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Interviewer and Candidate share one live editor.</a:t>
            </a:r>
            <a:endParaRPr lang="en-US" sz="1600" dirty="0"/>
          </a:p>
        </p:txBody>
      </p:sp>
      <p:sp>
        <p:nvSpPr>
          <p:cNvPr id="15" name="Shape 658"/>
          <p:cNvSpPr/>
          <p:nvPr/>
        </p:nvSpPr>
        <p:spPr>
          <a:xfrm>
            <a:off x="6126480" y="251460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6" name="Shape 659"/>
          <p:cNvSpPr/>
          <p:nvPr/>
        </p:nvSpPr>
        <p:spPr>
          <a:xfrm>
            <a:off x="6355080" y="2743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 FaRobot 660" descr="Robo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670" y="2891790"/>
            <a:ext cx="297180" cy="297180"/>
          </a:xfrm>
          <a:prstGeom prst="rect">
            <a:avLst/>
          </a:prstGeom>
        </p:spPr>
      </p:pic>
      <p:sp>
        <p:nvSpPr>
          <p:cNvPr id="18" name="Text 661"/>
          <p:cNvSpPr txBox="1"/>
          <p:nvPr/>
        </p:nvSpPr>
        <p:spPr>
          <a:xfrm>
            <a:off x="7178040" y="25146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AI-assisted evaluation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Groq API supports faster code review.</a:t>
            </a:r>
            <a:endParaRPr lang="en-US" sz="1600" dirty="0"/>
          </a:p>
        </p:txBody>
      </p:sp>
      <p:sp>
        <p:nvSpPr>
          <p:cNvPr id="19" name="Shape 662"/>
          <p:cNvSpPr/>
          <p:nvPr/>
        </p:nvSpPr>
        <p:spPr>
          <a:xfrm>
            <a:off x="548640" y="370332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0" name="Shape 663"/>
          <p:cNvSpPr/>
          <p:nvPr/>
        </p:nvSpPr>
        <p:spPr>
          <a:xfrm>
            <a:off x="777240" y="3931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 FaShieldAlt 664" descr="ShieldAl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30" y="4080510"/>
            <a:ext cx="297180" cy="297180"/>
          </a:xfrm>
          <a:prstGeom prst="rect">
            <a:avLst/>
          </a:prstGeom>
        </p:spPr>
      </p:pic>
      <p:sp>
        <p:nvSpPr>
          <p:cNvPr id="22" name="Text 665"/>
          <p:cNvSpPr txBox="1"/>
          <p:nvPr/>
        </p:nvSpPr>
        <p:spPr>
          <a:xfrm>
            <a:off x="1600200" y="370332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Integrated proctoring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Tab-switch tracking with warnings.</a:t>
            </a:r>
            <a:endParaRPr lang="en-US" sz="1600" dirty="0"/>
          </a:p>
        </p:txBody>
      </p:sp>
      <p:sp>
        <p:nvSpPr>
          <p:cNvPr id="23" name="Shape 666"/>
          <p:cNvSpPr/>
          <p:nvPr/>
        </p:nvSpPr>
        <p:spPr>
          <a:xfrm>
            <a:off x="6126480" y="370332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4" name="Shape 667"/>
          <p:cNvSpPr/>
          <p:nvPr/>
        </p:nvSpPr>
        <p:spPr>
          <a:xfrm>
            <a:off x="6355080" y="3931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 FaFilePdf 668" descr="FilePdf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3670" y="4080510"/>
            <a:ext cx="297180" cy="297180"/>
          </a:xfrm>
          <a:prstGeom prst="rect">
            <a:avLst/>
          </a:prstGeom>
        </p:spPr>
      </p:pic>
      <p:sp>
        <p:nvSpPr>
          <p:cNvPr id="26" name="Text 669"/>
          <p:cNvSpPr txBox="1"/>
          <p:nvPr/>
        </p:nvSpPr>
        <p:spPr>
          <a:xfrm>
            <a:off x="7178040" y="370332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Automated reporting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PDF scorecards generated after the interview.</a:t>
            </a:r>
            <a:endParaRPr lang="en-US" sz="1600" dirty="0"/>
          </a:p>
        </p:txBody>
      </p:sp>
      <p:sp>
        <p:nvSpPr>
          <p:cNvPr id="27" name="Shape 670"/>
          <p:cNvSpPr/>
          <p:nvPr/>
        </p:nvSpPr>
        <p:spPr>
          <a:xfrm>
            <a:off x="548640" y="489204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8" name="Shape 671"/>
          <p:cNvSpPr/>
          <p:nvPr/>
        </p:nvSpPr>
        <p:spPr>
          <a:xfrm>
            <a:off x="777240" y="5120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con FaHistory 672" descr="History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5830" y="5269230"/>
            <a:ext cx="297180" cy="297180"/>
          </a:xfrm>
          <a:prstGeom prst="rect">
            <a:avLst/>
          </a:prstGeom>
        </p:spPr>
      </p:pic>
      <p:sp>
        <p:nvSpPr>
          <p:cNvPr id="30" name="Text 673"/>
          <p:cNvSpPr txBox="1"/>
          <p:nvPr/>
        </p:nvSpPr>
        <p:spPr>
          <a:xfrm>
            <a:off x="1600200" y="48920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Centralized management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Sessions and history in one dashboard.</a:t>
            </a:r>
            <a:endParaRPr lang="en-US" sz="1600" dirty="0"/>
          </a:p>
        </p:txBody>
      </p:sp>
      <p:sp>
        <p:nvSpPr>
          <p:cNvPr id="31" name="Shape 674"/>
          <p:cNvSpPr/>
          <p:nvPr/>
        </p:nvSpPr>
        <p:spPr>
          <a:xfrm>
            <a:off x="6126480" y="489204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32" name="Shape 675"/>
          <p:cNvSpPr/>
          <p:nvPr/>
        </p:nvSpPr>
        <p:spPr>
          <a:xfrm>
            <a:off x="6355080" y="5120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con FaTasks 676" descr="Tasks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3670" y="5269230"/>
            <a:ext cx="297180" cy="297180"/>
          </a:xfrm>
          <a:prstGeom prst="rect">
            <a:avLst/>
          </a:prstGeom>
        </p:spPr>
      </p:pic>
      <p:sp>
        <p:nvSpPr>
          <p:cNvPr id="34" name="Text 677"/>
          <p:cNvSpPr txBox="1"/>
          <p:nvPr/>
        </p:nvSpPr>
        <p:spPr>
          <a:xfrm>
            <a:off x="7178040" y="48920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Improved workflow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Smoother process for both roles.</a:t>
            </a:r>
            <a:endParaRPr lang="en-US" sz="16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Limitations</a:t>
            </a:r>
            <a:endParaRPr lang="en-US" sz="3200" dirty="0"/>
          </a:p>
        </p:txBody>
      </p:sp>
      <p:sp>
        <p:nvSpPr>
          <p:cNvPr id="3" name="Shape 678"/>
          <p:cNvSpPr/>
          <p:nvPr/>
        </p:nvSpPr>
        <p:spPr>
          <a:xfrm>
            <a:off x="548640" y="1325880"/>
            <a:ext cx="3593592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4" name="Shape 679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5" name="Icon FaWifi 680" descr="Wifi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1703070"/>
            <a:ext cx="297180" cy="297180"/>
          </a:xfrm>
          <a:prstGeom prst="rect">
            <a:avLst/>
          </a:prstGeom>
        </p:spPr>
      </p:pic>
      <p:sp>
        <p:nvSpPr>
          <p:cNvPr id="6" name="Text 681"/>
          <p:cNvSpPr txBox="1"/>
          <p:nvPr/>
        </p:nvSpPr>
        <p:spPr>
          <a:xfrm>
            <a:off x="777240" y="22860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Internet dependency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Video and live sync need a stable connection.</a:t>
            </a:r>
            <a:endParaRPr lang="en-US" sz="1600" dirty="0"/>
          </a:p>
        </p:txBody>
      </p:sp>
      <p:sp>
        <p:nvSpPr>
          <p:cNvPr id="7" name="Shape 682"/>
          <p:cNvSpPr/>
          <p:nvPr/>
        </p:nvSpPr>
        <p:spPr>
          <a:xfrm>
            <a:off x="4297680" y="1325880"/>
            <a:ext cx="3593592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8" name="Shape 683"/>
          <p:cNvSpPr/>
          <p:nvPr/>
        </p:nvSpPr>
        <p:spPr>
          <a:xfrm>
            <a:off x="4526280" y="1554480"/>
            <a:ext cx="594360" cy="594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9" name="Icon FaGlobe 684" descr="Glob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870" y="1703070"/>
            <a:ext cx="297180" cy="297180"/>
          </a:xfrm>
          <a:prstGeom prst="rect">
            <a:avLst/>
          </a:prstGeom>
        </p:spPr>
      </p:pic>
      <p:sp>
        <p:nvSpPr>
          <p:cNvPr id="10" name="Text 685"/>
          <p:cNvSpPr txBox="1"/>
          <p:nvPr/>
        </p:nvSpPr>
        <p:spPr>
          <a:xfrm>
            <a:off x="4526280" y="22860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Browser compatibility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WebRTC behaviour can vary across browsers.</a:t>
            </a:r>
            <a:endParaRPr lang="en-US" sz="1600" dirty="0"/>
          </a:p>
        </p:txBody>
      </p:sp>
      <p:sp>
        <p:nvSpPr>
          <p:cNvPr id="11" name="Shape 686"/>
          <p:cNvSpPr/>
          <p:nvPr/>
        </p:nvSpPr>
        <p:spPr>
          <a:xfrm>
            <a:off x="8046720" y="1325880"/>
            <a:ext cx="3593592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2" name="Shape 687"/>
          <p:cNvSpPr/>
          <p:nvPr/>
        </p:nvSpPr>
        <p:spPr>
          <a:xfrm>
            <a:off x="8275320" y="1554480"/>
            <a:ext cx="594360" cy="594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13" name="Icon FaBrain 688" descr="Brai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910" y="1703070"/>
            <a:ext cx="297180" cy="297180"/>
          </a:xfrm>
          <a:prstGeom prst="rect">
            <a:avLst/>
          </a:prstGeom>
        </p:spPr>
      </p:pic>
      <p:sp>
        <p:nvSpPr>
          <p:cNvPr id="14" name="Text 689"/>
          <p:cNvSpPr txBox="1"/>
          <p:nvPr/>
        </p:nvSpPr>
        <p:spPr>
          <a:xfrm>
            <a:off x="8275320" y="22860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AI needs verification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AI evaluation should be confirmed by the Interviewer.</a:t>
            </a:r>
            <a:endParaRPr lang="en-US" sz="1600" dirty="0"/>
          </a:p>
        </p:txBody>
      </p:sp>
      <p:sp>
        <p:nvSpPr>
          <p:cNvPr id="15" name="Shape 690"/>
          <p:cNvSpPr/>
          <p:nvPr/>
        </p:nvSpPr>
        <p:spPr>
          <a:xfrm>
            <a:off x="548640" y="3657600"/>
            <a:ext cx="3593592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16" name="Shape 691"/>
          <p:cNvSpPr/>
          <p:nvPr/>
        </p:nvSpPr>
        <p:spPr>
          <a:xfrm>
            <a:off x="777240" y="3886200"/>
            <a:ext cx="594360" cy="594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17" name="Icon FaCode 692" descr="Cod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" y="4034790"/>
            <a:ext cx="297180" cy="297180"/>
          </a:xfrm>
          <a:prstGeom prst="rect">
            <a:avLst/>
          </a:prstGeom>
        </p:spPr>
      </p:pic>
      <p:sp>
        <p:nvSpPr>
          <p:cNvPr id="18" name="Text 693"/>
          <p:cNvSpPr txBox="1"/>
          <p:nvPr/>
        </p:nvSpPr>
        <p:spPr>
          <a:xfrm>
            <a:off x="777240" y="46177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Supported languages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Code execution depends on the supported languages and environment.</a:t>
            </a:r>
            <a:endParaRPr lang="en-US" sz="1600" dirty="0"/>
          </a:p>
        </p:txBody>
      </p:sp>
      <p:sp>
        <p:nvSpPr>
          <p:cNvPr id="19" name="Shape 694"/>
          <p:cNvSpPr/>
          <p:nvPr/>
        </p:nvSpPr>
        <p:spPr>
          <a:xfrm>
            <a:off x="4297680" y="3657600"/>
            <a:ext cx="3593592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0" name="Shape 695"/>
          <p:cNvSpPr/>
          <p:nvPr/>
        </p:nvSpPr>
        <p:spPr>
          <a:xfrm>
            <a:off x="4526280" y="3886200"/>
            <a:ext cx="594360" cy="594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21" name="Icon FaEye 696" descr="Ey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4870" y="4034790"/>
            <a:ext cx="297180" cy="297180"/>
          </a:xfrm>
          <a:prstGeom prst="rect">
            <a:avLst/>
          </a:prstGeom>
        </p:spPr>
      </p:pic>
      <p:sp>
        <p:nvSpPr>
          <p:cNvPr id="22" name="Text 697"/>
          <p:cNvSpPr txBox="1"/>
          <p:nvPr/>
        </p:nvSpPr>
        <p:spPr>
          <a:xfrm>
            <a:off x="4526280" y="46177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Proctoring review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Proctoring indicators need Interviewer review.</a:t>
            </a:r>
            <a:endParaRPr lang="en-US" sz="1600" dirty="0"/>
          </a:p>
        </p:txBody>
      </p:sp>
      <p:sp>
        <p:nvSpPr>
          <p:cNvPr id="23" name="Shape 698"/>
          <p:cNvSpPr/>
          <p:nvPr/>
        </p:nvSpPr>
        <p:spPr>
          <a:xfrm>
            <a:off x="8046720" y="3657600"/>
            <a:ext cx="3593592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24" name="Shape 699"/>
          <p:cNvSpPr/>
          <p:nvPr/>
        </p:nvSpPr>
        <p:spPr>
          <a:xfrm>
            <a:off x="8275320" y="3886200"/>
            <a:ext cx="594360" cy="594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25" name="Icon FaCloud 700" descr="Cloud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910" y="4034790"/>
            <a:ext cx="297180" cy="297180"/>
          </a:xfrm>
          <a:prstGeom prst="rect">
            <a:avLst/>
          </a:prstGeom>
        </p:spPr>
      </p:pic>
      <p:sp>
        <p:nvSpPr>
          <p:cNvPr id="26" name="Text 701"/>
          <p:cNvSpPr txBox="1"/>
          <p:nvPr/>
        </p:nvSpPr>
        <p:spPr>
          <a:xfrm>
            <a:off x="8275320" y="46177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External API dependency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AI features depend on the availability of the Groq API.</a:t>
            </a:r>
            <a:endParaRPr lang="en-US" sz="1600" dirty="0"/>
          </a:p>
        </p:txBody>
      </p:sp>
      <p:sp>
        <p:nvSpPr>
          <p:cNvPr id="27" name="Text 702"/>
          <p:cNvSpPr txBox="1"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These are design boundaries of the current version; several are addressed in Future Scope.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703"/>
          <p:cNvSpPr txBox="1"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Talent Flow brings the whole technical interview into one platform.</a:t>
            </a:r>
            <a:endParaRPr lang="en-US" sz="2600" dirty="0"/>
          </a:p>
        </p:txBody>
      </p:sp>
      <p:sp>
        <p:nvSpPr>
          <p:cNvPr id="4" name="Shape 704"/>
          <p:cNvSpPr/>
          <p:nvPr/>
        </p:nvSpPr>
        <p:spPr>
          <a:xfrm>
            <a:off x="548640" y="2560320"/>
            <a:ext cx="5440680" cy="1645920"/>
          </a:xfrm>
          <a:prstGeom prst="roundRect">
            <a:avLst>
              <a:gd name="adj" fmla="val 6667"/>
            </a:avLst>
          </a:prstGeom>
          <a:solidFill>
            <a:schemeClr val="bg1">
              <a:alpha val="8000"/>
            </a:scheme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Shape 705"/>
          <p:cNvSpPr/>
          <p:nvPr/>
        </p:nvSpPr>
        <p:spPr>
          <a:xfrm>
            <a:off x="777240" y="2788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 FaLayerGroup 706" descr="LayerGrou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937510"/>
            <a:ext cx="297180" cy="297180"/>
          </a:xfrm>
          <a:prstGeom prst="rect">
            <a:avLst/>
          </a:prstGeom>
        </p:spPr>
      </p:pic>
      <p:sp>
        <p:nvSpPr>
          <p:cNvPr id="7" name="Text 707"/>
          <p:cNvSpPr txBox="1"/>
          <p:nvPr/>
        </p:nvSpPr>
        <p:spPr>
          <a:xfrm>
            <a:off x="1600200" y="256032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What it provides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Live video, shared coding, AI review, proctoring and PDF reporting in one place.</a:t>
            </a:r>
            <a:endParaRPr lang="en-US" sz="1600" dirty="0"/>
          </a:p>
        </p:txBody>
      </p:sp>
      <p:sp>
        <p:nvSpPr>
          <p:cNvPr id="8" name="Shape 708"/>
          <p:cNvSpPr/>
          <p:nvPr/>
        </p:nvSpPr>
        <p:spPr>
          <a:xfrm>
            <a:off x="6126480" y="2560320"/>
            <a:ext cx="5440680" cy="1645920"/>
          </a:xfrm>
          <a:prstGeom prst="roundRect">
            <a:avLst>
              <a:gd name="adj" fmla="val 6667"/>
            </a:avLst>
          </a:prstGeom>
          <a:solidFill>
            <a:schemeClr val="bg1">
              <a:alpha val="8000"/>
            </a:scheme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09"/>
          <p:cNvSpPr/>
          <p:nvPr/>
        </p:nvSpPr>
        <p:spPr>
          <a:xfrm>
            <a:off x="6355080" y="2788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FaBullseye 710" descr="Bullsey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670" y="2937510"/>
            <a:ext cx="297180" cy="297180"/>
          </a:xfrm>
          <a:prstGeom prst="rect">
            <a:avLst/>
          </a:prstGeom>
        </p:spPr>
      </p:pic>
      <p:sp>
        <p:nvSpPr>
          <p:cNvPr id="11" name="Text 711"/>
          <p:cNvSpPr txBox="1"/>
          <p:nvPr/>
        </p:nvSpPr>
        <p:spPr>
          <a:xfrm>
            <a:off x="7178040" y="256032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Problem addressed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Replaces scattered tools and manual scoring with a centralized workflow.</a:t>
            </a:r>
            <a:endParaRPr lang="en-US" sz="1600" dirty="0"/>
          </a:p>
        </p:txBody>
      </p:sp>
      <p:sp>
        <p:nvSpPr>
          <p:cNvPr id="12" name="Shape 712"/>
          <p:cNvSpPr/>
          <p:nvPr/>
        </p:nvSpPr>
        <p:spPr>
          <a:xfrm>
            <a:off x="548640" y="4343400"/>
            <a:ext cx="5440680" cy="1645920"/>
          </a:xfrm>
          <a:prstGeom prst="roundRect">
            <a:avLst>
              <a:gd name="adj" fmla="val 6667"/>
            </a:avLst>
          </a:prstGeom>
          <a:solidFill>
            <a:schemeClr val="bg1">
              <a:alpha val="8000"/>
            </a:scheme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713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 FaTasks 714" descr="Task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720590"/>
            <a:ext cx="297180" cy="297180"/>
          </a:xfrm>
          <a:prstGeom prst="rect">
            <a:avLst/>
          </a:prstGeom>
        </p:spPr>
      </p:pic>
      <p:sp>
        <p:nvSpPr>
          <p:cNvPr id="15" name="Text 715"/>
          <p:cNvSpPr txBox="1"/>
          <p:nvPr/>
        </p:nvSpPr>
        <p:spPr>
          <a:xfrm>
            <a:off x="1600200" y="434340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Unified activities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Scheduling, interview, evaluation and reporting follow one connected flow.</a:t>
            </a:r>
            <a:endParaRPr lang="en-US" sz="1600" dirty="0"/>
          </a:p>
        </p:txBody>
      </p:sp>
      <p:sp>
        <p:nvSpPr>
          <p:cNvPr id="16" name="Shape 716"/>
          <p:cNvSpPr/>
          <p:nvPr/>
        </p:nvSpPr>
        <p:spPr>
          <a:xfrm>
            <a:off x="6126480" y="4343400"/>
            <a:ext cx="5440680" cy="1645920"/>
          </a:xfrm>
          <a:prstGeom prst="roundRect">
            <a:avLst>
              <a:gd name="adj" fmla="val 6667"/>
            </a:avLst>
          </a:prstGeom>
          <a:solidFill>
            <a:schemeClr val="bg1">
              <a:alpha val="8000"/>
            </a:scheme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717"/>
          <p:cNvSpPr/>
          <p:nvPr/>
        </p:nvSpPr>
        <p:spPr>
          <a:xfrm>
            <a:off x="6355080" y="45720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 FaBolt 718" descr="Bol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670" y="4720590"/>
            <a:ext cx="297180" cy="297180"/>
          </a:xfrm>
          <a:prstGeom prst="rect">
            <a:avLst/>
          </a:prstGeom>
        </p:spPr>
      </p:pic>
      <p:sp>
        <p:nvSpPr>
          <p:cNvPr id="19" name="Text 719"/>
          <p:cNvSpPr txBox="1"/>
          <p:nvPr/>
        </p:nvSpPr>
        <p:spPr>
          <a:xfrm>
            <a:off x="7178040" y="434340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Technology contribution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Groq-based code review plus WebRTC and Socket.IO real-time collaboration.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7D2E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Future Scope</a:t>
            </a:r>
            <a:endParaRPr lang="en-US" sz="3200" dirty="0"/>
          </a:p>
        </p:txBody>
      </p:sp>
      <p:sp>
        <p:nvSpPr>
          <p:cNvPr id="3" name="Shape 720"/>
          <p:cNvSpPr/>
          <p:nvPr/>
        </p:nvSpPr>
        <p:spPr>
          <a:xfrm>
            <a:off x="7589520" y="502920"/>
            <a:ext cx="4050792" cy="457200"/>
          </a:xfrm>
          <a:prstGeom prst="roundRect">
            <a:avLst>
              <a:gd name="adj" fmla="val 50000"/>
            </a:avLst>
          </a:prstGeom>
          <a:solidFill>
            <a:schemeClr val="accent4">
              <a:alpha val="12000"/>
            </a:schemeClr>
          </a:solidFill>
          <a:ln w="9525">
            <a:solidFill>
              <a:srgbClr val="F2D4A6"/>
            </a:solidFill>
            <a:prstDash val="solid"/>
          </a:ln>
        </p:spPr>
      </p:sp>
      <p:sp>
        <p:nvSpPr>
          <p:cNvPr id="4" name="Text 721"/>
          <p:cNvSpPr txBox="1"/>
          <p:nvPr/>
        </p:nvSpPr>
        <p:spPr>
          <a:xfrm>
            <a:off x="7589520" y="502920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/>
                </a:solidFill>
              </a:rPr>
              <a:t>Future possibilities, not current features</a:t>
            </a:r>
            <a:endParaRPr lang="en-US" sz="1200" dirty="0"/>
          </a:p>
        </p:txBody>
      </p:sp>
      <p:sp>
        <p:nvSpPr>
          <p:cNvPr id="5" name="Shape 722"/>
          <p:cNvSpPr/>
          <p:nvPr/>
        </p:nvSpPr>
        <p:spPr>
          <a:xfrm>
            <a:off x="54864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accent1">
              <a:alpha val="6000"/>
            </a:schemeClr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6" name="Shape 723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7" name="Icon FaBrain 724" descr="Brai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1748790"/>
            <a:ext cx="297180" cy="297180"/>
          </a:xfrm>
          <a:prstGeom prst="rect">
            <a:avLst/>
          </a:prstGeom>
        </p:spPr>
      </p:pic>
      <p:sp>
        <p:nvSpPr>
          <p:cNvPr id="8" name="Text 725"/>
          <p:cNvSpPr txBox="1"/>
          <p:nvPr/>
        </p:nvSpPr>
        <p:spPr>
          <a:xfrm>
            <a:off x="777240" y="2377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Advanced AI assistance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Smarter AI support during interviews.</a:t>
            </a:r>
            <a:endParaRPr lang="en-US" sz="1500" dirty="0"/>
          </a:p>
        </p:txBody>
      </p:sp>
      <p:sp>
        <p:nvSpPr>
          <p:cNvPr id="9" name="Shape 726"/>
          <p:cNvSpPr/>
          <p:nvPr/>
        </p:nvSpPr>
        <p:spPr>
          <a:xfrm>
            <a:off x="3355848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accent1">
              <a:alpha val="6000"/>
            </a:schemeClr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10" name="Shape 727"/>
          <p:cNvSpPr/>
          <p:nvPr/>
        </p:nvSpPr>
        <p:spPr>
          <a:xfrm>
            <a:off x="3584448" y="160020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1" name="Icon FaCode 728" descr="Cod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038" y="1748790"/>
            <a:ext cx="297180" cy="297180"/>
          </a:xfrm>
          <a:prstGeom prst="rect">
            <a:avLst/>
          </a:prstGeom>
        </p:spPr>
      </p:pic>
      <p:sp>
        <p:nvSpPr>
          <p:cNvPr id="12" name="Text 729"/>
          <p:cNvSpPr txBox="1"/>
          <p:nvPr/>
        </p:nvSpPr>
        <p:spPr>
          <a:xfrm>
            <a:off x="3584448" y="2377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More languages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Wider programming language support.</a:t>
            </a:r>
            <a:endParaRPr lang="en-US" sz="1500" dirty="0"/>
          </a:p>
        </p:txBody>
      </p:sp>
      <p:sp>
        <p:nvSpPr>
          <p:cNvPr id="13" name="Shape 730"/>
          <p:cNvSpPr/>
          <p:nvPr/>
        </p:nvSpPr>
        <p:spPr>
          <a:xfrm>
            <a:off x="6163056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accent1">
              <a:alpha val="6000"/>
            </a:schemeClr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14" name="Shape 731"/>
          <p:cNvSpPr/>
          <p:nvPr/>
        </p:nvSpPr>
        <p:spPr>
          <a:xfrm>
            <a:off x="6391656" y="160020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5" name="Icon FaEye 732" descr="Ey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246" y="1748790"/>
            <a:ext cx="297180" cy="297180"/>
          </a:xfrm>
          <a:prstGeom prst="rect">
            <a:avLst/>
          </a:prstGeom>
        </p:spPr>
      </p:pic>
      <p:sp>
        <p:nvSpPr>
          <p:cNvPr id="16" name="Text 733"/>
          <p:cNvSpPr txBox="1"/>
          <p:nvPr/>
        </p:nvSpPr>
        <p:spPr>
          <a:xfrm>
            <a:off x="6391656" y="2377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Behavioral analysis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Enhanced candidate behavior insights.</a:t>
            </a:r>
            <a:endParaRPr lang="en-US" sz="1500" dirty="0"/>
          </a:p>
        </p:txBody>
      </p:sp>
      <p:sp>
        <p:nvSpPr>
          <p:cNvPr id="17" name="Shape 734"/>
          <p:cNvSpPr/>
          <p:nvPr/>
        </p:nvSpPr>
        <p:spPr>
          <a:xfrm>
            <a:off x="8970264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accent1">
              <a:alpha val="6000"/>
            </a:schemeClr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18" name="Shape 735"/>
          <p:cNvSpPr/>
          <p:nvPr/>
        </p:nvSpPr>
        <p:spPr>
          <a:xfrm>
            <a:off x="9198864" y="160020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9" name="Icon FaChartBar 736" descr="ChartBar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454" y="1748790"/>
            <a:ext cx="297180" cy="297180"/>
          </a:xfrm>
          <a:prstGeom prst="rect">
            <a:avLst/>
          </a:prstGeom>
        </p:spPr>
      </p:pic>
      <p:sp>
        <p:nvSpPr>
          <p:cNvPr id="20" name="Text 737"/>
          <p:cNvSpPr txBox="1"/>
          <p:nvPr/>
        </p:nvSpPr>
        <p:spPr>
          <a:xfrm>
            <a:off x="9198864" y="2377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Advanced analytics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Richer reports and trends.</a:t>
            </a:r>
            <a:endParaRPr lang="en-US" sz="1500" dirty="0"/>
          </a:p>
        </p:txBody>
      </p:sp>
      <p:sp>
        <p:nvSpPr>
          <p:cNvPr id="21" name="Shape 738"/>
          <p:cNvSpPr/>
          <p:nvPr/>
        </p:nvSpPr>
        <p:spPr>
          <a:xfrm>
            <a:off x="548640" y="379476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accent1">
              <a:alpha val="6000"/>
            </a:schemeClr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22" name="Shape 739"/>
          <p:cNvSpPr/>
          <p:nvPr/>
        </p:nvSpPr>
        <p:spPr>
          <a:xfrm>
            <a:off x="777240" y="402336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3" name="Icon FaCloud 740" descr="Cloud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30" y="4171950"/>
            <a:ext cx="297180" cy="297180"/>
          </a:xfrm>
          <a:prstGeom prst="rect">
            <a:avLst/>
          </a:prstGeom>
        </p:spPr>
      </p:pic>
      <p:sp>
        <p:nvSpPr>
          <p:cNvPr id="24" name="Text 741"/>
          <p:cNvSpPr txBox="1"/>
          <p:nvPr/>
        </p:nvSpPr>
        <p:spPr>
          <a:xfrm>
            <a:off x="777240" y="4800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Cloud deployment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Scalable hosting for more sessions.</a:t>
            </a:r>
            <a:endParaRPr lang="en-US" sz="1500" dirty="0"/>
          </a:p>
        </p:txBody>
      </p:sp>
      <p:sp>
        <p:nvSpPr>
          <p:cNvPr id="25" name="Shape 742"/>
          <p:cNvSpPr/>
          <p:nvPr/>
        </p:nvSpPr>
        <p:spPr>
          <a:xfrm>
            <a:off x="3355848" y="379476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accent1">
              <a:alpha val="6000"/>
            </a:schemeClr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26" name="Shape 743"/>
          <p:cNvSpPr/>
          <p:nvPr/>
        </p:nvSpPr>
        <p:spPr>
          <a:xfrm>
            <a:off x="3584448" y="402336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7" name="Icon FaShieldAlt 744" descr="ShieldAlt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3038" y="4171950"/>
            <a:ext cx="297180" cy="297180"/>
          </a:xfrm>
          <a:prstGeom prst="rect">
            <a:avLst/>
          </a:prstGeom>
        </p:spPr>
      </p:pic>
      <p:sp>
        <p:nvSpPr>
          <p:cNvPr id="28" name="Text 745"/>
          <p:cNvSpPr txBox="1"/>
          <p:nvPr/>
        </p:nvSpPr>
        <p:spPr>
          <a:xfrm>
            <a:off x="3584448" y="4800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Improved proctoring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More robust integrity monitoring.</a:t>
            </a:r>
            <a:endParaRPr lang="en-US" sz="1500" dirty="0"/>
          </a:p>
        </p:txBody>
      </p:sp>
      <p:sp>
        <p:nvSpPr>
          <p:cNvPr id="29" name="Shape 746"/>
          <p:cNvSpPr/>
          <p:nvPr/>
        </p:nvSpPr>
        <p:spPr>
          <a:xfrm>
            <a:off x="6163056" y="379476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accent1">
              <a:alpha val="6000"/>
            </a:schemeClr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30" name="Shape 747"/>
          <p:cNvSpPr/>
          <p:nvPr/>
        </p:nvSpPr>
        <p:spPr>
          <a:xfrm>
            <a:off x="6391656" y="402336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1" name="Icon FaMobileAlt 748" descr="MobileAlt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0246" y="4171950"/>
            <a:ext cx="297180" cy="297180"/>
          </a:xfrm>
          <a:prstGeom prst="rect">
            <a:avLst/>
          </a:prstGeom>
        </p:spPr>
      </p:pic>
      <p:sp>
        <p:nvSpPr>
          <p:cNvPr id="32" name="Text 749"/>
          <p:cNvSpPr txBox="1"/>
          <p:nvPr/>
        </p:nvSpPr>
        <p:spPr>
          <a:xfrm>
            <a:off x="6391656" y="4800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Mobile support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Better experience on mobile devices.</a:t>
            </a:r>
            <a:endParaRPr lang="en-US" sz="1500" dirty="0"/>
          </a:p>
        </p:txBody>
      </p:sp>
      <p:sp>
        <p:nvSpPr>
          <p:cNvPr id="33" name="Shape 750"/>
          <p:cNvSpPr/>
          <p:nvPr/>
        </p:nvSpPr>
        <p:spPr>
          <a:xfrm>
            <a:off x="8970264" y="379476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accent1">
              <a:alpha val="6000"/>
            </a:schemeClr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34" name="Shape 751"/>
          <p:cNvSpPr/>
          <p:nvPr/>
        </p:nvSpPr>
        <p:spPr>
          <a:xfrm>
            <a:off x="9198864" y="4023360"/>
            <a:ext cx="594360" cy="5943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5" name="Icon FaHandshake 752" descr="Handshake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47454" y="4171950"/>
            <a:ext cx="297180" cy="297180"/>
          </a:xfrm>
          <a:prstGeom prst="rect">
            <a:avLst/>
          </a:prstGeom>
        </p:spPr>
      </p:pic>
      <p:sp>
        <p:nvSpPr>
          <p:cNvPr id="36" name="Text 753"/>
          <p:cNvSpPr txBox="1"/>
          <p:nvPr/>
        </p:nvSpPr>
        <p:spPr>
          <a:xfrm>
            <a:off x="9198864" y="4800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Enterprise integrations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Connect with hiring and HR systems.</a:t>
            </a:r>
            <a:endParaRPr lang="en-US" sz="15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Shape 754"/>
          <p:cNvSpPr/>
          <p:nvPr/>
        </p:nvSpPr>
        <p:spPr>
          <a:xfrm>
            <a:off x="548640" y="1280160"/>
            <a:ext cx="5440680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4" name="Text 755"/>
          <p:cNvSpPr txBox="1"/>
          <p:nvPr/>
        </p:nvSpPr>
        <p:spPr>
          <a:xfrm>
            <a:off x="777240" y="1417320"/>
            <a:ext cx="4983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[1] T. Manoj Prasath et al., “Intelligent candidate monitoring and interview surveillance system,” Int. J. Res. Appl. Sci. Eng. Technol. (IJRASET), 2026.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[2] Harshavardhan et al., “Secure real-time coding interview system with AI-based evaluation and monitoring,” Int. J. Adv. Res. Comput. Commun. Eng. (IJARCCE), 2026.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[3] “An intelligent online interview system based on AI,” IEEE.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[4] “AI-based automatic interview assessment,” IEEE.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[5] “Online remote proctoring system using AI,” IEEE.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[6] “Collaborative online code editor using WebRTC and Socket.IO,” IEEE.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[7] “Remote technical interview platform with real-time collaboration,” IEEE.</a:t>
            </a:r>
            <a:endParaRPr lang="en-US" sz="1400" dirty="0"/>
          </a:p>
        </p:txBody>
      </p:sp>
      <p:sp>
        <p:nvSpPr>
          <p:cNvPr id="5" name="Shape 756"/>
          <p:cNvSpPr/>
          <p:nvPr/>
        </p:nvSpPr>
        <p:spPr>
          <a:xfrm>
            <a:off x="6199632" y="1280160"/>
            <a:ext cx="5440680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9525">
            <a:solidFill>
              <a:srgbClr val="D5DFEF"/>
            </a:solidFill>
            <a:prstDash val="solid"/>
          </a:ln>
          <a:effectLst>
            <a:outerShdw blurRad="101600" dist="25400" dir="5400000" algn="bl" rotWithShape="0">
              <a:srgbClr val="0B1220">
                <a:alpha val="10000"/>
              </a:srgbClr>
            </a:outerShdw>
          </a:effectLst>
        </p:spPr>
      </p:sp>
      <p:sp>
        <p:nvSpPr>
          <p:cNvPr id="6" name="Text 757"/>
          <p:cNvSpPr txBox="1"/>
          <p:nvPr/>
        </p:nvSpPr>
        <p:spPr>
          <a:xfrm>
            <a:off x="6428232" y="1417320"/>
            <a:ext cx="4983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[8] “CodeSync: Real-time collaborative code editor,” Int. J. Creative Res. Thoughts (IJCRT), 2026.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[9] “REALCODEAI: Real-time code collaboration and interview platform,” Int. J. Sci. Res. Sci. Eng. Technol. (IJSRSET), 2025.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[10] “Code Together: Collaborative code editing using CRDT,” 2024.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[11] “Smart AI-based online proctoring system,” IEEE, 2022.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[12] “AI-based fully automated online proctoring systems survey,” IEEE, 2022.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[13] “Deep learning based online exam proctoring systems review,” Int. J. Sci. Res. Sci. Eng. Technol. (IJSRSET), 2022.</a:t>
            </a:r>
            <a:endParaRPr lang="en-US" sz="1400" dirty="0"/>
          </a:p>
        </p:txBody>
      </p:sp>
      <p:sp>
        <p:nvSpPr>
          <p:cNvPr id="7" name="Text 758"/>
          <p:cNvSpPr txBox="1"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Author names, volume, pages and DOI were not available in the project material and should be completed before submission.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59"/>
          <p:cNvSpPr txBox="1"/>
          <p:nvPr/>
        </p:nvSpPr>
        <p:spPr>
          <a:xfrm>
            <a:off x="0" y="1371600"/>
            <a:ext cx="12188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kern="0" spc="600" dirty="0">
                <a:solidFill>
                  <a:schemeClr val="bg1"/>
                </a:solidFill>
              </a:rPr>
              <a:t>THANK YOU</a:t>
            </a:r>
            <a:endParaRPr lang="en-US" sz="6600" dirty="0"/>
          </a:p>
        </p:txBody>
      </p:sp>
      <p:sp>
        <p:nvSpPr>
          <p:cNvPr id="3" name="Text 760"/>
          <p:cNvSpPr txBox="1"/>
          <p:nvPr/>
        </p:nvSpPr>
        <p:spPr>
          <a:xfrm>
            <a:off x="0" y="278892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2"/>
                </a:solidFill>
              </a:rPr>
              <a:t>Talent Flow</a:t>
            </a:r>
            <a:endParaRPr lang="en-US" sz="2800" dirty="0"/>
          </a:p>
        </p:txBody>
      </p:sp>
      <p:sp>
        <p:nvSpPr>
          <p:cNvPr id="4" name="Text 761"/>
          <p:cNvSpPr txBox="1"/>
          <p:nvPr/>
        </p:nvSpPr>
        <p:spPr>
          <a:xfrm>
            <a:off x="0" y="33832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2"/>
                </a:solidFill>
              </a:rPr>
              <a:t>Real-Time Remote Technical Interview &amp; Assessment Platform</a:t>
            </a:r>
            <a:endParaRPr lang="en-US" sz="1800" dirty="0"/>
          </a:p>
        </p:txBody>
      </p:sp>
      <p:sp>
        <p:nvSpPr>
          <p:cNvPr id="5" name="Shape 762"/>
          <p:cNvSpPr/>
          <p:nvPr/>
        </p:nvSpPr>
        <p:spPr>
          <a:xfrm>
            <a:off x="4270248" y="4206240"/>
            <a:ext cx="3657600" cy="640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 763"/>
          <p:cNvSpPr txBox="1"/>
          <p:nvPr/>
        </p:nvSpPr>
        <p:spPr>
          <a:xfrm>
            <a:off x="4270248" y="4206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7" name="Text 764"/>
          <p:cNvSpPr txBox="1"/>
          <p:nvPr/>
        </p:nvSpPr>
        <p:spPr>
          <a:xfrm>
            <a:off x="0" y="59436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>
                    <a:alpha val="80000"/>
                  </a:schemeClr>
                </a:solidFill>
              </a:rPr>
              <a:t>Aromal Anil  ·  MCA (S3)  ·  2025–27  ·  Guide: Ms. Anjaly Sajeev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lent Flow">
  <a:themeElements>
    <a:clrScheme name="Talent Flow">
      <a:dk1>
        <a:srgbClr val="0B1220"/>
      </a:dk1>
      <a:lt1>
        <a:srgbClr val="FFFFFF"/>
      </a:lt1>
      <a:dk2>
        <a:srgbClr val="10204A"/>
      </a:dk2>
      <a:lt2>
        <a:srgbClr val="EEF3FB"/>
      </a:lt2>
      <a:accent1>
        <a:srgbClr val="2563EB"/>
      </a:accent1>
      <a:accent2>
        <a:srgbClr val="0891B2"/>
      </a:accent2>
      <a:accent3>
        <a:srgbClr val="059669"/>
      </a:accent3>
      <a:accent4>
        <a:srgbClr val="D97706"/>
      </a:accent4>
      <a:accent5>
        <a:srgbClr val="64748B"/>
      </a:accent5>
      <a:accent6>
        <a:srgbClr val="1E3A8A"/>
      </a:accent6>
      <a:hlink>
        <a:srgbClr val="2563EB"/>
      </a:hlink>
      <a:folHlink>
        <a:srgbClr val="7C3AED"/>
      </a:folHlink>
    </a:clrScheme>
    <a:fontScheme name="Talent Flow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3061</Words>
  <Application>Microsoft Office PowerPoint</Application>
  <PresentationFormat>Widescreen</PresentationFormat>
  <Paragraphs>592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Times New Roman</vt:lpstr>
      <vt:lpstr>Talent Flow</vt:lpstr>
      <vt:lpstr>PowerPoint Presentation</vt:lpstr>
      <vt:lpstr>Introduction</vt:lpstr>
      <vt:lpstr>Abstract</vt:lpstr>
      <vt:lpstr>Problem Definition</vt:lpstr>
      <vt:lpstr>Objectives</vt:lpstr>
      <vt:lpstr>Existing System</vt:lpstr>
      <vt:lpstr>Proposed System</vt:lpstr>
      <vt:lpstr>Scope of the Project</vt:lpstr>
      <vt:lpstr>Literature Review</vt:lpstr>
      <vt:lpstr>Technologies Used</vt:lpstr>
      <vt:lpstr>Software &amp; Hardware Requirements</vt:lpstr>
      <vt:lpstr>System Architecture</vt:lpstr>
      <vt:lpstr>Design Diagrams</vt:lpstr>
      <vt:lpstr>Module Description</vt:lpstr>
      <vt:lpstr>Algorithm / Methodology</vt:lpstr>
      <vt:lpstr>Implementation</vt:lpstr>
      <vt:lpstr>Results / Analysis</vt:lpstr>
      <vt:lpstr>Screenshots / Output</vt:lpstr>
      <vt:lpstr>Comparison with Existing System</vt:lpstr>
      <vt:lpstr>Testing</vt:lpstr>
      <vt:lpstr>Demo Video</vt:lpstr>
      <vt:lpstr>Advantages</vt:lpstr>
      <vt:lpstr>Limitations</vt:lpstr>
      <vt:lpstr>Conclusion</vt:lpstr>
      <vt:lpstr>Future Scope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 Flow - MCA Mini Project Final Presentation</dc:title>
  <dc:subject>PptxGenJS Presentation</dc:subject>
  <dc:creator>Aromal Anil</dc:creator>
  <cp:lastModifiedBy>AROMAL ANIL</cp:lastModifiedBy>
  <cp:revision>4</cp:revision>
  <dcterms:created xsi:type="dcterms:W3CDTF">2026-10-02T03:08:55Z</dcterms:created>
  <dcterms:modified xsi:type="dcterms:W3CDTF">2026-10-02T05:52:23Z</dcterms:modified>
</cp:coreProperties>
</file>